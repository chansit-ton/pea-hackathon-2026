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77f61aceba451c" /><Relationship Type="http://schemas.openxmlformats.org/officeDocument/2006/relationships/extended-properties" Target="/docProps/app.xml" Id="Raeb7c1fdd3784721" /><Relationship Type="http://schemas.openxmlformats.org/officeDocument/2006/relationships/officeDocument" Target="/ppt/presentation.xml" Id="Rcaeacbcbef3847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ad56fe3c154ca3"/>
  </p:sldMasterIdLst>
  <p:notesMasterIdLst>
    <p:notesMasterId xmlns:r="http://schemas.openxmlformats.org/officeDocument/2006/relationships" r:id="Rf5b6231167e74c80"/>
  </p:notesMasterIdLst>
  <p:sldIdLst>
    <p:sldId xmlns:r="http://schemas.openxmlformats.org/officeDocument/2006/relationships" id="256" r:id="Ref8a222500094d4d"/>
    <p:sldId xmlns:r="http://schemas.openxmlformats.org/officeDocument/2006/relationships" id="257" r:id="Rb5846d9023da414e"/>
    <p:sldId xmlns:r="http://schemas.openxmlformats.org/officeDocument/2006/relationships" id="258" r:id="R4f3abb2c28254892"/>
    <p:sldId xmlns:r="http://schemas.openxmlformats.org/officeDocument/2006/relationships" id="259" r:id="Ra001cb6dfcba489b"/>
    <p:sldId xmlns:r="http://schemas.openxmlformats.org/officeDocument/2006/relationships" id="260" r:id="R235b9894c20749b5"/>
    <p:sldId xmlns:r="http://schemas.openxmlformats.org/officeDocument/2006/relationships" id="261" r:id="Rfd8e6a3ad1704b5b"/>
    <p:sldId xmlns:r="http://schemas.openxmlformats.org/officeDocument/2006/relationships" id="262" r:id="R24aba3523c2d4bb6"/>
    <p:sldId xmlns:r="http://schemas.openxmlformats.org/officeDocument/2006/relationships" id="263" r:id="Rcab3b7909f384598"/>
    <p:sldId xmlns:r="http://schemas.openxmlformats.org/officeDocument/2006/relationships" id="264" r:id="R67b58ae952fb48d6"/>
    <p:sldId xmlns:r="http://schemas.openxmlformats.org/officeDocument/2006/relationships" id="265" r:id="Re8e29e206f4143f1"/>
    <p:sldId xmlns:r="http://schemas.openxmlformats.org/officeDocument/2006/relationships" id="266" r:id="R56ef5d1cf2094f33"/>
    <p:sldId xmlns:r="http://schemas.openxmlformats.org/officeDocument/2006/relationships" id="267" r:id="R17acbafca2bf4a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bdf6076174bfc" /><Relationship Type="http://schemas.openxmlformats.org/officeDocument/2006/relationships/slideMaster" Target="/ppt/slideMasters/slideMaster1.xml" Id="R98ad56fe3c154ca3" /><Relationship Type="http://schemas.openxmlformats.org/officeDocument/2006/relationships/notesMaster" Target="/ppt/notesMasters/notesMaster1.xml" Id="Rf5b6231167e74c80" /><Relationship Type="http://schemas.openxmlformats.org/officeDocument/2006/relationships/presProps" Target="/ppt/presProps.xml" Id="Ref65f6f3b1504319" /><Relationship Type="http://schemas.openxmlformats.org/officeDocument/2006/relationships/viewProps" Target="/ppt/viewProps.xml" Id="Ra66bc66905154aa5" /><Relationship Type="http://schemas.openxmlformats.org/officeDocument/2006/relationships/tableStyles" Target="/ppt/tableStyles.xml" Id="Rf4696a711af74ab9" /><Relationship Type="http://schemas.openxmlformats.org/officeDocument/2006/relationships/slide" Target="/ppt/slides/slide1.xml" Id="Ref8a222500094d4d" /><Relationship Type="http://schemas.openxmlformats.org/officeDocument/2006/relationships/slide" Target="/ppt/slides/slide2.xml" Id="Rb5846d9023da414e" /><Relationship Type="http://schemas.openxmlformats.org/officeDocument/2006/relationships/slide" Target="/ppt/slides/slide3.xml" Id="R4f3abb2c28254892" /><Relationship Type="http://schemas.openxmlformats.org/officeDocument/2006/relationships/slide" Target="/ppt/slides/slide4.xml" Id="Ra001cb6dfcba489b" /><Relationship Type="http://schemas.openxmlformats.org/officeDocument/2006/relationships/slide" Target="/ppt/slides/slide5.xml" Id="R235b9894c20749b5" /><Relationship Type="http://schemas.openxmlformats.org/officeDocument/2006/relationships/slide" Target="/ppt/slides/slide6.xml" Id="Rfd8e6a3ad1704b5b" /><Relationship Type="http://schemas.openxmlformats.org/officeDocument/2006/relationships/slide" Target="/ppt/slides/slide7.xml" Id="R24aba3523c2d4bb6" /><Relationship Type="http://schemas.openxmlformats.org/officeDocument/2006/relationships/slide" Target="/ppt/slides/slide8.xml" Id="Rcab3b7909f384598" /><Relationship Type="http://schemas.openxmlformats.org/officeDocument/2006/relationships/slide" Target="/ppt/slides/slide9.xml" Id="R67b58ae952fb48d6" /><Relationship Type="http://schemas.openxmlformats.org/officeDocument/2006/relationships/slide" Target="/ppt/slides/slide10.xml" Id="Re8e29e206f4143f1" /><Relationship Type="http://schemas.openxmlformats.org/officeDocument/2006/relationships/slide" Target="/ppt/slides/slide11.xml" Id="R56ef5d1cf2094f33" /><Relationship Type="http://schemas.openxmlformats.org/officeDocument/2006/relationships/slide" Target="/ppt/slides/slide12.xml" Id="R17acbafca2bf4a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eb2d888cd4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1a6f14062a465c" /><Relationship Type="http://schemas.openxmlformats.org/officeDocument/2006/relationships/notesMaster" Target="/ppt/notesMasters/notesMaster1.xml" Id="Rba72b518a54445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650b35c53b4f63" /><Relationship Type="http://schemas.openxmlformats.org/officeDocument/2006/relationships/notesMaster" Target="/ppt/notesMasters/notesMaster1.xml" Id="R6ddf44954d7c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ff5a375c0d41e5" /><Relationship Type="http://schemas.openxmlformats.org/officeDocument/2006/relationships/notesMaster" Target="/ppt/notesMasters/notesMaster1.xml" Id="Rc71995d9b4b441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be94b8fa8547c4" /><Relationship Type="http://schemas.openxmlformats.org/officeDocument/2006/relationships/notesMaster" Target="/ppt/notesMasters/notesMaster1.xml" Id="Rb0f1f760a524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009715a46248d5" /><Relationship Type="http://schemas.openxmlformats.org/officeDocument/2006/relationships/notesMaster" Target="/ppt/notesMasters/notesMaster1.xml" Id="R4ff234b746b141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a6c969b2be42e3" /><Relationship Type="http://schemas.openxmlformats.org/officeDocument/2006/relationships/notesMaster" Target="/ppt/notesMasters/notesMaster1.xml" Id="Reec132f742c14c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47bc60d0a944e0" /><Relationship Type="http://schemas.openxmlformats.org/officeDocument/2006/relationships/notesMaster" Target="/ppt/notesMasters/notesMaster1.xml" Id="Rbdb408dbb1ea4b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89068da3334f7d" /><Relationship Type="http://schemas.openxmlformats.org/officeDocument/2006/relationships/notesMaster" Target="/ppt/notesMasters/notesMaster1.xml" Id="R7d1f504bb3d54a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cc87a046fc47ba" /><Relationship Type="http://schemas.openxmlformats.org/officeDocument/2006/relationships/notesMaster" Target="/ppt/notesMasters/notesMaster1.xml" Id="R7d2ecb4995ac40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ff15ada7f047d3" /><Relationship Type="http://schemas.openxmlformats.org/officeDocument/2006/relationships/notesMaster" Target="/ppt/notesMasters/notesMaster1.xml" Id="R29dd98de095d47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8c334ec9164b65" /><Relationship Type="http://schemas.openxmlformats.org/officeDocument/2006/relationships/notesMaster" Target="/ppt/notesMasters/notesMaster1.xml" Id="R29f68e7b7a7340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596cbe200b422c" /><Relationship Type="http://schemas.openxmlformats.org/officeDocument/2006/relationships/notesMaster" Target="/ppt/notesMasters/notesMaster1.xml" Id="Re6134b39ac9c41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before buying, do we know whether another warehouse already has the same item sitting idle?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c0e5da2eb4e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2cfe5d8391400b" /><Relationship Type="http://schemas.openxmlformats.org/officeDocument/2006/relationships/slideLayout" Target="/ppt/slideLayouts/slideLayout1.xml" Id="Rd315281c690e4c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15281c690e4c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f0e8fa5a9410b" /><Relationship Type="http://schemas.openxmlformats.org/officeDocument/2006/relationships/notesSlide" Target="/ppt/notesSlides/notesSlide1.xml" Id="R300156caf07241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8be4c26be4bb1" /><Relationship Type="http://schemas.openxmlformats.org/officeDocument/2006/relationships/notesSlide" Target="/ppt/notesSlides/notesSlide2.xml" Id="Rd495e8f070ad48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1593dd43849be" /><Relationship Type="http://schemas.openxmlformats.org/officeDocument/2006/relationships/notesSlide" Target="/ppt/notesSlides/notesSlide3.xml" Id="R5ef4e921770843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eccb04d464b56" /><Relationship Type="http://schemas.openxmlformats.org/officeDocument/2006/relationships/notesSlide" Target="/ppt/notesSlides/notesSlide4.xml" Id="R9befba82078b4e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858fc20134323" /><Relationship Type="http://schemas.openxmlformats.org/officeDocument/2006/relationships/notesSlide" Target="/ppt/notesSlides/notesSlide5.xml" Id="R7d43d5591d1d44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314ce77f24ca4" /><Relationship Type="http://schemas.openxmlformats.org/officeDocument/2006/relationships/notesSlide" Target="/ppt/notesSlides/notesSlide6.xml" Id="Rf0ab3b5ee2ea42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da295beab4aed" /><Relationship Type="http://schemas.openxmlformats.org/officeDocument/2006/relationships/notesSlide" Target="/ppt/notesSlides/notesSlide7.xml" Id="R8b15b83d5081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c690686d5476f" /><Relationship Type="http://schemas.openxmlformats.org/officeDocument/2006/relationships/notesSlide" Target="/ppt/notesSlides/notesSlide8.xml" Id="Rbb09e5ee5e4243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e379378e44556" /><Relationship Type="http://schemas.openxmlformats.org/officeDocument/2006/relationships/notesSlide" Target="/ppt/notesSlides/notesSlide9.xml" Id="Rda76158f429246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a56f42a094225" /><Relationship Type="http://schemas.openxmlformats.org/officeDocument/2006/relationships/notesSlide" Target="/ppt/notesSlides/notesSlide10.xml" Id="Rd669cdb0eb824a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afefe96ca4e2c" /><Relationship Type="http://schemas.openxmlformats.org/officeDocument/2006/relationships/notesSlide" Target="/ppt/notesSlides/notesSlide11.xml" Id="Rb5ed48b02db944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0a5f2df3241b0" /><Relationship Type="http://schemas.openxmlformats.org/officeDocument/2006/relationships/notesSlide" Target="/ppt/notesSlides/notesSlide12.xml" Id="R214585fdf3a44b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ABD315-9CBB-4079-BE79-BA6455A9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28EDA-A695-4ADE-B56C-AC4ECF8F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ACD36-7A06-44B8-A3D2-7B63EA8B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1D46C-B589-42BD-8F8C-257C2621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4C270-A025-491D-8293-4406B114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125">
                <a:solidFill>
                  <a:srgbClr val="D8C8FF"/>
                </a:solidFill>
                <a:latin typeface="Tahoma"/>
                <a:ea typeface="Tahoma"/>
                <a:cs typeface="Tahoma"/>
              </a:rPr>
              <a:t>PEA HACKATHON 2026 | Track #2 Inventory &amp; Safety Stock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EF447-F52F-4FE4-818D-55782FE1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Inventory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6E751-B77E-4689-A014-1F9FF08B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6A2B"/>
                </a:solidFill>
                <a:latin typeface="Tahoma"/>
                <a:ea typeface="Tahoma"/>
                <a:cs typeface="Tahoma"/>
              </a:rPr>
              <a:t>Stop buying blind: know whether to buy, transfer, borrow, or wait.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4CA20-B50E-43E3-8815-D2F54F32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03632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Before opening a purchase request, PEA should know whether the item is truly missing or simply sitting as dead stock in another warehouse.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C8CE4-B669-49D2-969C-BBF8BCE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857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95250" tIns="1143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฿8.6M</a:t>
            </a:r>
          </a:p>
          <a:p xmlns:a="http://schemas.openxmlformats.org/drawingml/2006/main">
            <a:pPr algn="ctr">
              <a:defRPr sz="15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demo trapped-capital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6E609-AF24-4331-8684-3A801C05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00550"/>
            <a:ext cx="3429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95250" tIns="1143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31D07F"/>
                </a:solidFill>
                <a:latin typeface="Tahoma"/>
                <a:ea typeface="Tahoma"/>
                <a:cs typeface="Tahoma"/>
              </a:rPr>
              <a:t>Safety Stock + ROP</a:t>
            </a:r>
          </a:p>
          <a:p xmlns:a="http://schemas.openxmlformats.org/drawingml/2006/main">
            <a:pPr algn="ctr">
              <a:defRPr sz="1575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31D07F"/>
                </a:solidFill>
                <a:latin typeface="Tahoma"/>
                <a:ea typeface="Tahoma"/>
                <a:cs typeface="Tahoma"/>
              </a:rPr>
              <a:t>explainable formula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0A102-3BD7-405E-9EC7-56869DB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333375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95250" tIns="1143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9B5C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9B5CFF"/>
                </a:solidFill>
                <a:latin typeface="Tahoma"/>
                <a:ea typeface="Tahoma"/>
                <a:cs typeface="Tahoma"/>
              </a:rPr>
              <a:t>Local / Regional / Central</a:t>
            </a:r>
          </a:p>
          <a:p xmlns:a="http://schemas.openxmlformats.org/drawingml/2006/main">
            <a:pPr algn="ctr">
              <a:defRPr sz="1575">
                <a:solidFill>
                  <a:srgbClr val="9B5C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9B5CFF"/>
                </a:solidFill>
                <a:latin typeface="Tahoma"/>
                <a:ea typeface="Tahoma"/>
                <a:cs typeface="Tahoma"/>
              </a:rPr>
              <a:t>governed approval layers</a:t>
            </a:r>
          </a:p>
        </p:txBody>
      </p:sp>
    </p:spTree>
    <p:extLst>
      <p:ext uri="{BB962C8B-B14F-4D97-AF65-F5344CB8AC3E}">
        <p14:creationId xmlns:p14="http://schemas.microsoft.com/office/powerpoint/2010/main" val="1883378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DDBEF4-59D0-410B-9FDE-54BC3B0C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6F69B-39FC-4E42-94D3-4B54ED4F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6059E-1988-4DAF-B4FA-3B2D4030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15B20-102B-47E5-8E9A-0AAED8C2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F7F0B-FF6A-411A-B649-D2DCF917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9D006-93A4-4A58-AA7C-725EBB97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has stockout and dead stock at the same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28642-0D03-445A-91C1-9AD39932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317D9-1F75-4CA6-AF39-8A01DC7B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3524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Understock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Field work waits for critical materials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Emergency demand is hard to forecast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Local teams open PRs quickly to avoid service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F8954-1FBE-42DD-849C-E2341D8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3524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Overstock / Dead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Other warehouses hold idle items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Annual budget patterns can repeat purchases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Capital is trapped instead of moving to demand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38CCC-AAB0-46FC-8C42-F94C75C5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143250" cy="3524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A2B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Root cause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Decision data is fragmented across Excel, stock records, supplier lead time, budget, and procurement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0C0EA-11E0-4331-BF43-C987C3A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2100">
                <a:solidFill>
                  <a:srgbClr val="31D07F"/>
                </a:solidFill>
                <a:latin typeface="Tahoma"/>
                <a:ea typeface="Tahoma"/>
                <a:cs typeface="Tahoma"/>
              </a:rPr>
              <a:t>The pitch: solve the decision workflow, not just the forecast screen.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353F8-8726-4C86-AF24-CADB833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02</a:t>
            </a:r>
          </a:p>
        </p:txBody>
      </p:sp>
    </p:spTree>
    <p:extLst>
      <p:ext uri="{BB962C8B-B14F-4D97-AF65-F5344CB8AC3E}">
        <p14:creationId xmlns:p14="http://schemas.microsoft.com/office/powerpoint/2010/main" val="1974518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5F6B2-5A14-44A0-9F19-F1E7CE5B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92EF1-D08F-4EBB-82C7-34C008B5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BBA03-A835-4C26-AC9B-0C46A193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6207D-7C2A-41C9-881E-05C776B1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AD2C8-FDD5-4D6D-8016-52965262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PERSONA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BA392-651D-4803-B872-4601FDA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user does not lack knowledge; they lack a standard decision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0B2A5-595F-4EB1-B8E1-888B42D5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5470B-89F7-4398-AE22-341CC2A4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40957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คุณสมมุติ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เจ้าหน้าที่พัสดุ ระดับ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5+ years at PEA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Owns warehouse stock decisions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Uses experience + Excel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Needs standard Safety Stock and ROP across regions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8AB4F-E91D-4152-9881-8DE21FDC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00200"/>
            <a:ext cx="28575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6A2B"/>
                </a:solidFill>
                <a:latin typeface="Tahoma"/>
                <a:ea typeface="Tahoma"/>
                <a:cs typeface="Tahoma"/>
              </a:rPr>
              <a:t>Pain 1</a:t>
            </a:r>
          </a:p>
          <a:p xmlns:a="http://schemas.openxmlformats.org/drawingml/2006/main">
            <a:pPr algn="l">
              <a:defRPr sz="1800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6A2B"/>
                </a:solidFill>
                <a:latin typeface="Tahoma"/>
                <a:ea typeface="Tahoma"/>
                <a:cs typeface="Tahoma"/>
              </a:rPr>
              <a:t>No shared calculation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75932-0767-406C-8388-3B805DE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28575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6A2B"/>
                </a:solidFill>
                <a:latin typeface="Tahoma"/>
                <a:ea typeface="Tahoma"/>
                <a:cs typeface="Tahoma"/>
              </a:rPr>
              <a:t>Pain 2</a:t>
            </a:r>
          </a:p>
          <a:p xmlns:a="http://schemas.openxmlformats.org/drawingml/2006/main">
            <a:pPr algn="l">
              <a:defRPr sz="1800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6A2B"/>
                </a:solidFill>
                <a:latin typeface="Tahoma"/>
                <a:ea typeface="Tahoma"/>
                <a:cs typeface="Tahoma"/>
              </a:rPr>
              <a:t>Manual collection causes errors and fatigue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8F775-E8F0-442F-BCD0-52BFE980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28575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31D07F"/>
                </a:solidFill>
                <a:latin typeface="Tahoma"/>
                <a:ea typeface="Tahoma"/>
                <a:cs typeface="Tahoma"/>
              </a:rPr>
              <a:t>Need 1</a:t>
            </a:r>
          </a:p>
          <a:p xmlns:a="http://schemas.openxmlformats.org/drawingml/2006/main">
            <a:pPr algn="l">
              <a:defRPr sz="1800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31D07F"/>
                </a:solidFill>
                <a:latin typeface="Tahoma"/>
                <a:ea typeface="Tahoma"/>
                <a:cs typeface="Tahoma"/>
              </a:rPr>
              <a:t>Explainable recommendation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B7165-1CB0-4C14-BF92-6900D568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28575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31D07F"/>
                </a:solidFill>
                <a:latin typeface="Tahoma"/>
                <a:ea typeface="Tahoma"/>
                <a:cs typeface="Tahoma"/>
              </a:rPr>
              <a:t>Need 2</a:t>
            </a:r>
          </a:p>
          <a:p xmlns:a="http://schemas.openxmlformats.org/drawingml/2006/main">
            <a:pPr algn="l">
              <a:defRPr sz="1800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31D07F"/>
                </a:solidFill>
                <a:latin typeface="Tahoma"/>
                <a:ea typeface="Tahoma"/>
                <a:cs typeface="Tahoma"/>
              </a:rPr>
              <a:t>Audit-ready approval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B2C3A-7EB6-4539-A7DF-9AEA76A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D8C8FF"/>
                </a:solidFill>
                <a:latin typeface="Tahoma"/>
                <a:ea typeface="Tahoma"/>
                <a:cs typeface="Tahoma"/>
              </a:rPr>
              <a:t>DVF fit: Desirable for staff, viable through efficiency, feasible with data engineering.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4A0AF-BAD6-4BAC-ACB3-C46EB28D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03</a:t>
            </a:r>
          </a:p>
        </p:txBody>
      </p:sp>
    </p:spTree>
    <p:extLst>
      <p:ext uri="{BB962C8B-B14F-4D97-AF65-F5344CB8AC3E}">
        <p14:creationId xmlns:p14="http://schemas.microsoft.com/office/powerpoint/2010/main" val="1131417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ED65B-BC0E-4DD4-8DE7-4A4015A0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29077-FC6A-4330-ACB6-BE01AC9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94CE5-03A6-4CC1-9E53-69A604E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F5639-D584-441B-8DA2-1A38D69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85E12-0F22-470D-A3EB-D202870C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INSIGHT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F4762-8133-4ED0-B3EB-CFE8A464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real operational question is not “how much to buy?”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A645E-8062-49B1-BB6A-EB8E244E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547C4-787C-4841-85D8-035797B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2400">
                <a:solidFill>
                  <a:srgbClr val="FF6A2B"/>
                </a:solidFill>
                <a:latin typeface="Tahoma"/>
                <a:ea typeface="Tahoma"/>
                <a:cs typeface="Tahoma"/>
              </a:rPr>
              <a:t>It is: what is the best action before money moves?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34875-FD2E-48DD-968F-A09675D2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145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Stock below ROP?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286C6-964C-49B3-94A8-7240742D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4E6CC-DCDA-417C-8E0C-44BE5392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DC731-5EE0-4033-99D9-2A29D5FC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9050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Other warehouse has excess?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E0CD8-E04B-4F72-9421-AFB0EE4E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142CB-724A-4F48-AF85-EDAB642F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9CFBD-34ED-4718-891D-AAC40D3B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1905000" cy="76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D07F"/>
          </a:solidFill>
        </p:spPr>
        <p:txBody>
          <a:bodyPr xmlns:a="http://schemas.openxmlformats.org/drawingml/2006/main" wrap="square" lIns="171450" tIns="133350" rIns="171450" bIns="1333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Transfer / Borrow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C359F-360A-4122-8F69-011A61E1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1905000" cy="76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B5CFF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Swap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BA06F-E95C-4B99-8040-EE747439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58C69-F69D-4CE7-873C-86ED0520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5A6B8-AA5A-4158-A3FF-45940B99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0955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A2B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Buy only when evidence says yes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02400-5EEF-40B9-BAB1-39FF55A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8191500" cy="742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Inventory AI turns a purchase request into a governed decision: buy, transfer, borrow, swap, or wait.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49332-7E64-4CB2-A350-65E15FD7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04</a:t>
            </a:r>
          </a:p>
        </p:txBody>
      </p:sp>
    </p:spTree>
    <p:extLst>
      <p:ext uri="{BB962C8B-B14F-4D97-AF65-F5344CB8AC3E}">
        <p14:creationId xmlns:p14="http://schemas.microsoft.com/office/powerpoint/2010/main" val="1703139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EF5A4-3E48-468C-A783-EB03DB6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F4B9F-9449-4DF9-9B1A-9958D2D7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AF8DA-4D4E-43C0-9C2A-D28FD168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82E59-DCB4-433C-9964-E438CDFE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AA116-A7B9-4AA5-B19A-066D86D0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PRODUCT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2B846-B190-4009-A0FB-8102785A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Inventory AI converts evidence into a governed purchase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7BDF7-5519-4CA8-AE63-BCE27AE6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2C598-0A44-4E0C-B4EB-437C577E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2573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Dashboard</a:t>
            </a:r>
          </a:p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risk + dead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EA20D-F21F-493C-93EF-8BA2A4E8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09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E837D-B0D4-45E1-BC4E-840B11EE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E33E8-8397-43F8-AB02-42D63C5E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28875"/>
            <a:ext cx="12573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SKU Detail</a:t>
            </a:r>
          </a:p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stock + usage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D0A9B-7F86-41BE-BED5-EA06906E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9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A1D11-0F74-4018-86FC-5D6744B5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718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C557A-5A4E-499F-B271-407C513D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28875"/>
            <a:ext cx="12573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Calculation</a:t>
            </a:r>
          </a:p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Safety Stock / ROP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6C289-18B5-4D2B-8C2E-6C4B5A71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9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EDCC5-069A-4583-80F7-143FFFFF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718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F7F76-9F3B-46A4-9683-47C7936D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28875"/>
            <a:ext cx="12573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A2B"/>
          </a:solidFill>
        </p:spPr>
        <p:txBody>
          <a:bodyPr xmlns:a="http://schemas.openxmlformats.org/drawingml/2006/main" wrap="square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Guardrail</a:t>
            </a:r>
          </a:p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dead stock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28982-F507-40EC-BA01-4496F88F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82476-16FF-4E0C-A7CA-02A472EA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718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297E2-C9C7-4F36-9B4A-67CC3136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12573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</a:t>
            </a:r>
          </a:p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qty + reason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86D29-AFB7-4AA4-841B-29363D7C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9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5BAC0-8510-477A-9635-5041E3A0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718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D47A1-A962-4169-B67C-2B47316A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28875"/>
            <a:ext cx="12573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Approval</a:t>
            </a:r>
          </a:p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3-layer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9C24A-A1B8-429A-A5F1-1265E529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09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D64E0-AFD7-4F97-A81B-1A906EB4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718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995F5D-E0EB-437E-A6BB-5843DD23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28875"/>
            <a:ext cx="12573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Audit</a:t>
            </a:r>
          </a:p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snapshot +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D1E46-8457-43AC-8B9A-242DE6E1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143250" cy="904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31D07F"/>
                </a:solidFill>
                <a:latin typeface="Tahoma"/>
                <a:ea typeface="Tahoma"/>
                <a:cs typeface="Tahoma"/>
              </a:rPr>
              <a:t>Predict</a:t>
            </a:r>
          </a:p>
          <a:p xmlns:a="http://schemas.openxmlformats.org/drawingml/2006/main">
            <a:pPr algn="ctr">
              <a:defRPr sz="1800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31D07F"/>
                </a:solidFill>
                <a:latin typeface="Tahoma"/>
                <a:ea typeface="Tahoma"/>
                <a:cs typeface="Tahoma"/>
              </a:rPr>
              <a:t>What quantity is needed?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A3717B-8590-495E-A071-7366942F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76750"/>
            <a:ext cx="3143250" cy="904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6A2B"/>
                </a:solidFill>
                <a:latin typeface="Tahoma"/>
                <a:ea typeface="Tahoma"/>
                <a:cs typeface="Tahoma"/>
              </a:rPr>
              <a:t>Prevent</a:t>
            </a:r>
          </a:p>
          <a:p xmlns:a="http://schemas.openxmlformats.org/drawingml/2006/main">
            <a:pPr algn="ctr">
              <a:defRPr sz="1800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6A2B"/>
                </a:solidFill>
                <a:latin typeface="Tahoma"/>
                <a:ea typeface="Tahoma"/>
                <a:cs typeface="Tahoma"/>
              </a:rPr>
              <a:t>Can we avoid buying?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D16356-2F2C-4319-A301-A6909E48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3143250" cy="904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B5C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9B5CFF"/>
                </a:solidFill>
                <a:latin typeface="Tahoma"/>
                <a:ea typeface="Tahoma"/>
                <a:cs typeface="Tahoma"/>
              </a:rPr>
              <a:t>Prove</a:t>
            </a:r>
          </a:p>
          <a:p xmlns:a="http://schemas.openxmlformats.org/drawingml/2006/main">
            <a:pPr algn="ctr">
              <a:defRPr sz="1800">
                <a:solidFill>
                  <a:srgbClr val="9B5C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9B5CFF"/>
                </a:solidFill>
                <a:latin typeface="Tahoma"/>
                <a:ea typeface="Tahoma"/>
                <a:cs typeface="Tahoma"/>
              </a:rPr>
              <a:t>Can we audit the decision?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D5056D-4754-4C2B-A988-5CF54DB4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05</a:t>
            </a:r>
          </a:p>
        </p:txBody>
      </p:sp>
    </p:spTree>
    <p:extLst>
      <p:ext uri="{BB962C8B-B14F-4D97-AF65-F5344CB8AC3E}">
        <p14:creationId xmlns:p14="http://schemas.microsoft.com/office/powerpoint/2010/main" val="794157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64FFE-C6D7-4C50-89AE-490C1181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3EC8B-16A8-406A-A50B-FEC7F92C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4C125-CE66-4180-A8A9-532D15BC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C696D-EC0C-4F94-B7D0-A840A8A4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F085C-90C1-4842-B4BB-41BFC076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EXPLAINABLE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9B409-B49A-45D2-993F-527030C9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Every AI suggestion is traceable from usage to MOQ-rounded quantity.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DCFCA-BDE0-4631-9209-7F031887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51F8B-89D7-4FF4-BE39-D1D496C8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 Usage history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average daily 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D7485-AF74-4634-919C-90A7AA97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0B224-BC93-44C6-9498-78030AB9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288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98AEC-EF37-4E12-A458-38255E6E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8575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2. Demand variability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safety buffer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32BBE-500D-4CEA-BFB2-D296612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1A7A1-D303-444F-A3A3-3DEA45FF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288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3F6EE-4125-4627-8277-E03C1697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8575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3. Lead time x factors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adjusted lead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7D675-3B0C-49D2-8377-3A0F1E5B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8575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4. Safety Stock + DDLT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reorder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F72FA-6136-485C-BDD5-108DEE89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E5537-95F6-4C37-AB9B-17C74FAC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943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ADA34-645A-4E76-82BF-3ED7FF0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28575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5. Target - current stock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suggested quantity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EE9B5-BA7E-4264-A61B-ADFB23A8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47E92-5F1C-4F7D-8282-9F8EF2FD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943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F30C3-2324-4F90-B4CD-B5A9EF9A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28575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6. Round by MOQ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PR-ready number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07F6A-D38D-4690-839A-7415BD83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91125"/>
            <a:ext cx="9239250" cy="666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D07F"/>
          </a:solidFill>
        </p:spPr>
        <p:txBody>
          <a:bodyPr xmlns:a="http://schemas.openxmlformats.org/drawingml/2006/main" wrap="square" lIns="171450" tIns="133350" rIns="171450" bIns="133350" anchor="ctr">
            <a:normAutofit fontScale="98565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A102B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A102B"/>
                </a:solidFill>
                <a:latin typeface="Tahoma"/>
                <a:ea typeface="Tahoma"/>
                <a:cs typeface="Tahoma"/>
              </a:rPr>
              <a:t>Result: not a black box. ผู้ใช้และ auditor เห็นว่าคำนวณจากอะไร และค่าเปลี่ยนเมื่ออะไรเปลี่ยน.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1A5CE-E042-439B-A7BE-6DE5BD7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06</a:t>
            </a:r>
          </a:p>
        </p:txBody>
      </p:sp>
    </p:spTree>
    <p:extLst>
      <p:ext uri="{BB962C8B-B14F-4D97-AF65-F5344CB8AC3E}">
        <p14:creationId xmlns:p14="http://schemas.microsoft.com/office/powerpoint/2010/main" val="226516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33ADCF-3609-449D-83E0-2FEAC125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58E02-D562-488A-8EDD-8B4A7B4F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AB8CC-AC24-41A8-B471-58993848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5442D-2C84-4BED-8931-684637A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169F9-91D2-45F4-960E-15ECDDC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DEAD STOCK 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5F423-2504-4D22-968A-3A504BDE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system catches repeat-purchase risk before budget is consumed.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AEFD4-97A4-4A6A-BCE9-611F6B93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C82DB-4965-4CD3-9DE0-C868819F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143250" cy="104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A2B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Dead Stock Exchange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Show idle stock that can be shared before buying.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BB761-3D3A-4E55-8202-36CE22A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143250" cy="104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95239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Procurement Audit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Flag repeat buy, spend-to-keep, and over-peer budget patterns.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E4B7D-0C39-4933-B72B-59EAF51B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38300"/>
            <a:ext cx="6381750" cy="2457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Seed proof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320 concrete poles idle 9 months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300m XLPE cable idle 6 months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1,150 breakers idle 11 months</a:t>
            </a:r>
          </a:p>
          <a:p xmlns:a="http://schemas.openxmlformats.org/drawingml/2006/main">
            <a:pPr algn="l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3 transformers idle 8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99BBF-08A7-4D82-ACD6-8BA14D10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31D07F"/>
                </a:solidFill>
                <a:latin typeface="Tahoma"/>
                <a:ea typeface="Tahoma"/>
                <a:cs typeface="Tahoma"/>
              </a:defRPr>
            </a:pPr>
            <a:r>
              <a:rPr sz="2025">
                <a:solidFill>
                  <a:srgbClr val="31D07F"/>
                </a:solidFill>
                <a:latin typeface="Tahoma"/>
                <a:ea typeface="Tahoma"/>
                <a:cs typeface="Tahoma"/>
              </a:rPr>
              <a:t>Core judge line: this is where hard return starts, because the system can prevent a new purchase before it becomes a 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172C8-18DC-4A9F-8A32-3F2452FC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07</a:t>
            </a:r>
          </a:p>
        </p:txBody>
      </p:sp>
    </p:spTree>
    <p:extLst>
      <p:ext uri="{BB962C8B-B14F-4D97-AF65-F5344CB8AC3E}">
        <p14:creationId xmlns:p14="http://schemas.microsoft.com/office/powerpoint/2010/main" val="454599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BB218-04D5-4D86-8AD6-F73AFC37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29D77-D2E0-4AF6-8F59-0B45E78A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4C25E-C7E2-4110-9735-C3A6190D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7B43C-1BB5-4FA6-8286-28E7D535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8DC7B-4A6E-4240-9D93-E9CA6E4F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18B41-F4C4-4BC8-8DE8-A9430B3E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ROI story combines hard savings, productivity, and governance.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70ED5-247A-4112-8689-F06C356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1D858-FDB8-4F46-8F22-D3D3CA36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A2B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Hard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Reduce repeated purchase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Reduce trapped inventory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Avoid unnecessary CAPEX/OPEX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Reduce stockout opportunity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59671-259E-415B-A143-F6F3DF13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D07F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A1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A102B"/>
                </a:solidFill>
                <a:latin typeface="Tahoma"/>
                <a:ea typeface="Tahoma"/>
                <a:cs typeface="Tahoma"/>
              </a:rPr>
              <a:t>Soft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>
                <a:solidFill>
                  <a:srgbClr val="1A1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A102B"/>
                </a:solidFill>
                <a:latin typeface="Tahoma"/>
                <a:ea typeface="Tahoma"/>
                <a:cs typeface="Tahoma"/>
              </a:rPr>
              <a:t>• Faster planning</a:t>
            </a:r>
          </a:p>
          <a:p xmlns:a="http://schemas.openxmlformats.org/drawingml/2006/main">
            <a:pPr algn="l">
              <a:defRPr sz="1725">
                <a:solidFill>
                  <a:srgbClr val="1A1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A102B"/>
                </a:solidFill>
                <a:latin typeface="Tahoma"/>
                <a:ea typeface="Tahoma"/>
                <a:cs typeface="Tahoma"/>
              </a:rPr>
              <a:t>• Faster approval</a:t>
            </a:r>
          </a:p>
          <a:p xmlns:a="http://schemas.openxmlformats.org/drawingml/2006/main">
            <a:pPr algn="l">
              <a:defRPr sz="1725">
                <a:solidFill>
                  <a:srgbClr val="1A1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A102B"/>
                </a:solidFill>
                <a:latin typeface="Tahoma"/>
                <a:ea typeface="Tahoma"/>
                <a:cs typeface="Tahoma"/>
              </a:rPr>
              <a:t>• Less Excel reconciliation</a:t>
            </a:r>
          </a:p>
          <a:p xmlns:a="http://schemas.openxmlformats.org/drawingml/2006/main">
            <a:pPr algn="l">
              <a:defRPr sz="1725">
                <a:solidFill>
                  <a:srgbClr val="1A1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A102B"/>
                </a:solidFill>
                <a:latin typeface="Tahoma"/>
                <a:ea typeface="Tahoma"/>
                <a:cs typeface="Tahoma"/>
              </a:rPr>
              <a:t>• Better time-to-value for staff and 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B9AD1-C81E-4363-8E1C-2BA2DDB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14325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B5CFF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Strategic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Standard safety stock logic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Audit-ready governance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Regional scaling</a:t>
            </a:r>
          </a:p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Foundation for VMI and SAP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989CA-74CA-466A-A330-6760AA03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72125"/>
            <a:ext cx="9525000" cy="43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65217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D8C8FF"/>
                </a:solidFill>
                <a:latin typeface="Tahoma"/>
                <a:ea typeface="Tahoma"/>
                <a:cs typeface="Tahoma"/>
              </a:rPr>
              <a:t>Pitch priority: lead with Impact (40%) and Implementation / Technicality (35%).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82C30-65EA-4112-B536-5CDAF01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08</a:t>
            </a:r>
          </a:p>
        </p:txBody>
      </p:sp>
    </p:spTree>
    <p:extLst>
      <p:ext uri="{BB962C8B-B14F-4D97-AF65-F5344CB8AC3E}">
        <p14:creationId xmlns:p14="http://schemas.microsoft.com/office/powerpoint/2010/main" val="1694565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DE385-32B9-48FF-921E-53E95CBF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EA85E-370F-4876-92F4-1D8B9CC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48E4A-5E4C-4393-B29B-97848DA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95153-A894-4315-8CBB-26090EB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E6E95-C6D4-4BF8-8CB3-6190BD1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FEASIBILITY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2F697-6343-48F2-92FF-D2DF3FFC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prototype is already structured for a regional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7AF93-51A5-4EBE-9804-1669D513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D0468-0200-480B-8900-703C24D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86000" cy="2952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Data layer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SKU, WH, Plant, Supplier, Usage, Stock, Budget, Procurement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83DF8-019D-4F1E-AD76-13C6CF82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81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0752B-C15D-4B4B-908F-A0496EE9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432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96E52-2DF2-43C8-B2A5-F89D307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2286000" cy="2952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Calculation layer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Safety Stock, ROP, MOQ, Cost, Approval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D27A6-0C98-4EEB-A34D-F256396A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81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947DE-E9FA-48A3-9AA5-5FAB3D51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432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D5D46-5EC2-4CD8-A8C7-E372A9E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286000" cy="2952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Workflow layer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PR, Transfer, Borrow, Approval, Receiving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443D1-51C9-4165-9628-1D79B09B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81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ED636-EF7E-4F95-9ABF-D481A4CE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EEE44-7406-4C5A-B169-D64EE69B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2000250" cy="2952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Audit layer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Snapshot, Timeline, Feedback, Formula 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96B3F-B039-4E9B-84AA-5A91F4E5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D07F"/>
          </a:solidFill>
        </p:spPr>
        <p:txBody>
          <a:bodyPr xmlns:a="http://schemas.openxmlformats.org/drawingml/2006/main" wrap="square" lIns="171450" tIns="133350" rIns="171450" bIns="133350" anchor="ctr">
            <a:normAutofit fontScale="75993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A10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A102B"/>
                </a:solidFill>
                <a:latin typeface="Tahoma"/>
                <a:ea typeface="Tahoma"/>
                <a:cs typeface="Tahoma"/>
              </a:rPr>
              <a:t>Production path: replace localStorage/seed data with datastore + SAP-MM/API connectors; keep calculation and audit logic.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898D3-63A3-4E0A-AFE0-033A45F4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09</a:t>
            </a:r>
          </a:p>
        </p:txBody>
      </p:sp>
    </p:spTree>
    <p:extLst>
      <p:ext uri="{BB962C8B-B14F-4D97-AF65-F5344CB8AC3E}">
        <p14:creationId xmlns:p14="http://schemas.microsoft.com/office/powerpoint/2010/main" val="1334666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024B57-BE2B-4CF7-B829-97B427D6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D56D8-D0EB-4CEC-86F6-D310154E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724BD-2F23-4AB2-B5A2-EC087B02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CFB62-4679-4373-8B3D-B2FD5552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2A526-FC42-4072-A9D9-E7F2F8C7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DEMO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76D65-701D-4458-81A3-7CFD6C9C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590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Judges can verify the end-to-end flow in under five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76873-7255-4766-9824-8ECB671C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FC284-ADCF-41B7-81EB-038C2841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71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B5CFF"/>
          </a:solidFill>
        </p:spPr>
        <p:txBody>
          <a:bodyPr xmlns:a="http://schemas.openxmlformats.org/drawingml/2006/main" wrap="square" lIns="171450" tIns="133350" rIns="171450" bIns="1333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51DB5-30C3-4F9E-8915-CB9EB0AB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247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8AAE2-C999-462B-8B65-39D37C57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24000"/>
            <a:ext cx="628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D8C8FF"/>
                </a:solidFill>
                <a:latin typeface="Tahoma"/>
                <a:ea typeface="Tahoma"/>
                <a:cs typeface="Tahoma"/>
              </a:rPr>
              <a:t>risk, PR queue, dead stock exchange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AEFB6-7E4B-42B4-93C9-D5F82BA3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71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B5CFF"/>
          </a:solidFill>
        </p:spPr>
        <p:txBody>
          <a:bodyPr xmlns:a="http://schemas.openxmlformats.org/drawingml/2006/main" wrap="square" lIns="171450" tIns="133350" rIns="171450" bIns="1333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2C1F6-57D5-4C1B-BE37-099F8AF6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247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SKU Detail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3F41A-CBE0-472D-AB1E-52A79482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09800"/>
            <a:ext cx="628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D8C8FF"/>
                </a:solidFill>
                <a:latin typeface="Tahoma"/>
                <a:ea typeface="Tahoma"/>
                <a:cs typeface="Tahoma"/>
              </a:rPr>
              <a:t>current stock, safety stock, ROP, AI suggested qty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18421-98D7-419A-A729-66741E1C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71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B5CFF"/>
          </a:solidFill>
        </p:spPr>
        <p:txBody>
          <a:bodyPr xmlns:a="http://schemas.openxmlformats.org/drawingml/2006/main" wrap="square" lIns="171450" tIns="133350" rIns="171450" bIns="1333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578BC-DA80-4DE5-BA93-482324A9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247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Calculation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4AF4F-5B8D-4960-9628-6105573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628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D8C8FF"/>
                </a:solidFill>
                <a:latin typeface="Tahoma"/>
                <a:ea typeface="Tahoma"/>
                <a:cs typeface="Tahoma"/>
              </a:rPr>
              <a:t>why the system recommends this quantity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F3B60-EE61-4B8D-9B3A-953EA402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571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A2B"/>
          </a:solidFill>
        </p:spPr>
        <p:txBody>
          <a:bodyPr xmlns:a="http://schemas.openxmlformats.org/drawingml/2006/main" wrap="square" lIns="171450" tIns="133350" rIns="171450" bIns="1333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29526-B9CA-4158-BFA7-BD552D0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247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Create 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1DB1F-30A9-49EB-A3E3-7E91F571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81400"/>
            <a:ext cx="628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D8C8FF"/>
                </a:solidFill>
                <a:latin typeface="Tahoma"/>
                <a:ea typeface="Tahoma"/>
                <a:cs typeface="Tahoma"/>
              </a:rPr>
              <a:t>budget check + transfer/borrow warning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584B8-F07E-417A-AB7F-B1FE69E0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571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B5CFF"/>
          </a:solidFill>
        </p:spPr>
        <p:txBody>
          <a:bodyPr xmlns:a="http://schemas.openxmlformats.org/drawingml/2006/main" wrap="square" lIns="171450" tIns="133350" rIns="171450" bIns="1333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A62D9-02E8-4922-AC73-5FCE0210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247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88C9A-2B05-4A5F-8A81-36962FA0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67200"/>
            <a:ext cx="628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D8C8FF"/>
                </a:solidFill>
                <a:latin typeface="Tahoma"/>
                <a:ea typeface="Tahoma"/>
                <a:cs typeface="Tahoma"/>
              </a:rPr>
              <a:t>AI vs requested, reason, snapshot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4167E-D036-4CDC-8044-81B089F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571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B5CFF"/>
          </a:solidFill>
        </p:spPr>
        <p:txBody>
          <a:bodyPr xmlns:a="http://schemas.openxmlformats.org/drawingml/2006/main" wrap="square" lIns="171450" tIns="133350" rIns="171450" bIns="1333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26781-0D4E-49E6-8F01-F8363293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247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History / 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A55A5-42A6-4431-A47B-E016E7C0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53000"/>
            <a:ext cx="62865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171450" tIns="133350" rIns="171450" bIns="1333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8C8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D8C8FF"/>
                </a:solidFill>
                <a:latin typeface="Tahoma"/>
                <a:ea typeface="Tahoma"/>
                <a:cs typeface="Tahoma"/>
              </a:rPr>
              <a:t>locked calculation and feedback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D411E-8203-444F-9415-0DCAE6A6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10</a:t>
            </a:r>
          </a:p>
        </p:txBody>
      </p:sp>
    </p:spTree>
    <p:extLst>
      <p:ext uri="{BB962C8B-B14F-4D97-AF65-F5344CB8AC3E}">
        <p14:creationId xmlns:p14="http://schemas.microsoft.com/office/powerpoint/2010/main" val="1964025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0F7436-75DD-485E-A9B2-944065D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C3DC5-4A21-4DC2-8C78-72075C7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C263A-4487-44E1-9BF9-F94B55F5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56F80-4A09-47C3-95DF-1B414DDD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9B96D-8918-4B2A-843A-3AC5839C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CD6BE-73D2-4C21-9ADA-5BB5B7A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5562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Start small, prove impact, then integrate enterprise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B28C5-2111-4DCB-BF9F-A37A00A3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"/>
            <a:ext cx="161925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044"/>
          </a:solidFill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PEA Hackathon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596FB-5370-499C-B571-E8D0CAB2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 1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Sandbox / PoC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Excel/CSV import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Validate formulas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PO feedback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Screenshot-ready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EB5AD-A097-4B0D-A374-FB2CCF77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62760-E723-4369-BBC4-BCA062DE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861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22EE4-D3AB-499A-A838-3B4498CA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 2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Regional 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Shared datastore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Role routing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Transfer rules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SLA and delay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6E399-A0F5-485F-9C3F-E018091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242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AE03F-1C8E-4EC4-BC2F-53728CC7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861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476BD-00B0-4EB0-B99A-4FFCD48F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85750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 3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Enterprise 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SAP-MM / budget API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SSO / RBAC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Full audit log</a:t>
            </a:r>
          </a:p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• VMI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16F10-046B-4F62-80F3-E2FC5DD4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A2B"/>
          </a:solidFill>
        </p:spPr>
        <p:txBody>
          <a:bodyPr xmlns:a="http://schemas.openxmlformats.org/drawingml/2006/main" wrap="square" lIns="171450" tIns="133350" rIns="171450" bIns="133350" anchor="ctr">
            <a:normAutofit fontScale="80685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Pilot success metric: reduce purchase requests where the same SKU already exists as shareable dead stock.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6049B-EA0C-40D0-8DDA-20C0258B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11</a:t>
            </a:r>
          </a:p>
        </p:txBody>
      </p:sp>
    </p:spTree>
    <p:extLst>
      <p:ext uri="{BB962C8B-B14F-4D97-AF65-F5344CB8AC3E}">
        <p14:creationId xmlns:p14="http://schemas.microsoft.com/office/powerpoint/2010/main" val="665757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0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C82E2-43A3-4E98-A461-046304F4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9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794B7-EC3E-4437-B379-90863A2B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5B60F-3919-481B-98BD-2A8A8F9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8E8FE-1F6D-4D41-9C9A-A0F9FCB7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2667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04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C6B11-019A-44AC-9E4D-A934E112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6A2B"/>
                </a:solidFill>
                <a:latin typeface="Tahoma"/>
                <a:ea typeface="Tahoma"/>
                <a:cs typeface="Tahoma"/>
              </a:defRPr>
            </a:pPr>
            <a:r>
              <a:rPr sz="975">
                <a:solidFill>
                  <a:srgbClr val="FF6A2B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5003F-22B1-497D-9A7E-83463753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4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AI does not replace approval.</a:t>
            </a:r>
          </a:p>
          <a:p xmlns:a="http://schemas.openxmlformats.org/drawingml/2006/main">
            <a:pPr algn="ctr">
              <a:defRPr sz="34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4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It makes every inventory decision explainable.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81563-D012-4D2C-8531-3106F586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28575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Impact</a:t>
            </a:r>
          </a:p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ลดซื้อซ้ำ ลดทุนจม ลดของขาด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AAA8C-AEBC-4A07-B88E-22E2371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8575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Feasibility</a:t>
            </a:r>
          </a:p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สูตรและ workflow ทำงานแล้วใน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DD109-1EF3-497D-8938-7768069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8575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22057"/>
          </a:solidFill>
        </p:spPr>
        <p:txBody>
          <a:bodyPr xmlns:a="http://schemas.openxmlformats.org/drawingml/2006/main" wrap="square" lIns="171450" tIns="133350" rIns="171450" bIns="13335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Scalability</a:t>
            </a:r>
          </a:p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เริ่ม pilot รายเขต แล้วต่อ SAP/API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6A028-1CA3-4754-B6F5-77D52635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D07F"/>
          </a:solidFill>
        </p:spPr>
        <p:txBody>
          <a:bodyPr xmlns:a="http://schemas.openxmlformats.org/drawingml/2006/main" wrap="square" lIns="171450" tIns="133350" rIns="171450" bIns="13335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A102B"/>
                </a:solidFill>
                <a:latin typeface="Tahoma"/>
                <a:ea typeface="Tahoma"/>
                <a:cs typeface="Tahoma"/>
              </a:defRPr>
            </a:pPr>
            <a:r>
              <a:rPr sz="2100">
                <a:solidFill>
                  <a:srgbClr val="1A102B"/>
                </a:solidFill>
                <a:latin typeface="Tahoma"/>
                <a:ea typeface="Tahoma"/>
                <a:cs typeface="Tahoma"/>
              </a:rPr>
              <a:t>Stop buying blind. Buy only when the evidence says yes.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213FF-A3DA-472B-9706-CCCF655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8F7BBF"/>
                </a:solidFill>
                <a:latin typeface="Tahoma"/>
                <a:ea typeface="Tahoma"/>
                <a:cs typeface="Tahoma"/>
              </a:defRPr>
            </a:pPr>
            <a:r>
              <a:rPr sz="750">
                <a:solidFill>
                  <a:srgbClr val="8F7BBF"/>
                </a:solidFill>
                <a:latin typeface="Tahoma"/>
                <a:ea typeface="Tahoma"/>
                <a:cs typeface="Tahoma"/>
              </a:rPr>
              <a:t>Inventory AI | Final Pitch Handoff | 12</a:t>
            </a:r>
          </a:p>
        </p:txBody>
      </p:sp>
    </p:spTree>
    <p:extLst>
      <p:ext uri="{BB962C8B-B14F-4D97-AF65-F5344CB8AC3E}">
        <p14:creationId xmlns:p14="http://schemas.microsoft.com/office/powerpoint/2010/main" val="1096369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2026-06-15T04:03:31.8590000Z</dcterms:created>
  <dcterms:modified xsi:type="dcterms:W3CDTF">2026-06-15T04:03:31.8590000Z</dcterms:modified>
</coreProperties>
</file>