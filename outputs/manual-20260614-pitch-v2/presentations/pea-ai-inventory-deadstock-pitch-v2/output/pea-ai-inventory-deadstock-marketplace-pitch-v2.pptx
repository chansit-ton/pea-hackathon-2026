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14daebb5144df" /><Relationship Type="http://schemas.openxmlformats.org/officeDocument/2006/relationships/extended-properties" Target="/docProps/app.xml" Id="R2b7265a5c6694237" /><Relationship Type="http://schemas.openxmlformats.org/officeDocument/2006/relationships/officeDocument" Target="/ppt/presentation.xml" Id="R966c8e3608de46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c14aac7a9a4bbb"/>
  </p:sldMasterIdLst>
  <p:notesMasterIdLst>
    <p:notesMasterId xmlns:r="http://schemas.openxmlformats.org/officeDocument/2006/relationships" r:id="Rc5291534c63a4936"/>
  </p:notesMasterIdLst>
  <p:sldIdLst>
    <p:sldId xmlns:r="http://schemas.openxmlformats.org/officeDocument/2006/relationships" id="256" r:id="R9cd6a58af58c454d"/>
    <p:sldId xmlns:r="http://schemas.openxmlformats.org/officeDocument/2006/relationships" id="257" r:id="R30d3fb93876d4257"/>
    <p:sldId xmlns:r="http://schemas.openxmlformats.org/officeDocument/2006/relationships" id="258" r:id="Rbeffa1abc24949f5"/>
    <p:sldId xmlns:r="http://schemas.openxmlformats.org/officeDocument/2006/relationships" id="259" r:id="R3c8a65dfa06a4d9c"/>
    <p:sldId xmlns:r="http://schemas.openxmlformats.org/officeDocument/2006/relationships" id="260" r:id="Ra5cc4e8dd14d4386"/>
    <p:sldId xmlns:r="http://schemas.openxmlformats.org/officeDocument/2006/relationships" id="261" r:id="R50b3c4650d354772"/>
    <p:sldId xmlns:r="http://schemas.openxmlformats.org/officeDocument/2006/relationships" id="262" r:id="R3d1d326ee1fc4ee4"/>
    <p:sldId xmlns:r="http://schemas.openxmlformats.org/officeDocument/2006/relationships" id="263" r:id="R8ad8b03198544346"/>
    <p:sldId xmlns:r="http://schemas.openxmlformats.org/officeDocument/2006/relationships" id="264" r:id="R01996ac094e349a7"/>
    <p:sldId xmlns:r="http://schemas.openxmlformats.org/officeDocument/2006/relationships" id="265" r:id="Rad5c61eb73ee46ad"/>
    <p:sldId xmlns:r="http://schemas.openxmlformats.org/officeDocument/2006/relationships" id="266" r:id="Rd83a15d66cd64c2a"/>
    <p:sldId xmlns:r="http://schemas.openxmlformats.org/officeDocument/2006/relationships" id="267" r:id="R7f878a59c4264a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3661d17a3d472a" /><Relationship Type="http://schemas.openxmlformats.org/officeDocument/2006/relationships/slideMaster" Target="/ppt/slideMasters/slideMaster1.xml" Id="Rf9c14aac7a9a4bbb" /><Relationship Type="http://schemas.openxmlformats.org/officeDocument/2006/relationships/notesMaster" Target="/ppt/notesMasters/notesMaster1.xml" Id="Rc5291534c63a4936" /><Relationship Type="http://schemas.openxmlformats.org/officeDocument/2006/relationships/presProps" Target="/ppt/presProps.xml" Id="R4d6b2c910e6c4f63" /><Relationship Type="http://schemas.openxmlformats.org/officeDocument/2006/relationships/viewProps" Target="/ppt/viewProps.xml" Id="R4954e7ca92ee4fa4" /><Relationship Type="http://schemas.openxmlformats.org/officeDocument/2006/relationships/tableStyles" Target="/ppt/tableStyles.xml" Id="Rc5768cec450f4bfa" /><Relationship Type="http://schemas.openxmlformats.org/officeDocument/2006/relationships/slide" Target="/ppt/slides/slide1.xml" Id="R9cd6a58af58c454d" /><Relationship Type="http://schemas.openxmlformats.org/officeDocument/2006/relationships/slide" Target="/ppt/slides/slide2.xml" Id="R30d3fb93876d4257" /><Relationship Type="http://schemas.openxmlformats.org/officeDocument/2006/relationships/slide" Target="/ppt/slides/slide3.xml" Id="Rbeffa1abc24949f5" /><Relationship Type="http://schemas.openxmlformats.org/officeDocument/2006/relationships/slide" Target="/ppt/slides/slide4.xml" Id="R3c8a65dfa06a4d9c" /><Relationship Type="http://schemas.openxmlformats.org/officeDocument/2006/relationships/slide" Target="/ppt/slides/slide5.xml" Id="Ra5cc4e8dd14d4386" /><Relationship Type="http://schemas.openxmlformats.org/officeDocument/2006/relationships/slide" Target="/ppt/slides/slide6.xml" Id="R50b3c4650d354772" /><Relationship Type="http://schemas.openxmlformats.org/officeDocument/2006/relationships/slide" Target="/ppt/slides/slide7.xml" Id="R3d1d326ee1fc4ee4" /><Relationship Type="http://schemas.openxmlformats.org/officeDocument/2006/relationships/slide" Target="/ppt/slides/slide8.xml" Id="R8ad8b03198544346" /><Relationship Type="http://schemas.openxmlformats.org/officeDocument/2006/relationships/slide" Target="/ppt/slides/slide9.xml" Id="R01996ac094e349a7" /><Relationship Type="http://schemas.openxmlformats.org/officeDocument/2006/relationships/slide" Target="/ppt/slides/slide10.xml" Id="Rad5c61eb73ee46ad" /><Relationship Type="http://schemas.openxmlformats.org/officeDocument/2006/relationships/slide" Target="/ppt/slides/slide11.xml" Id="Rd83a15d66cd64c2a" /><Relationship Type="http://schemas.openxmlformats.org/officeDocument/2006/relationships/slide" Target="/ppt/slides/slide12.xml" Id="R7f878a59c426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1edd5dbd4b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5ed2d337754205" /><Relationship Type="http://schemas.openxmlformats.org/officeDocument/2006/relationships/notesMaster" Target="/ppt/notesMasters/notesMaster1.xml" Id="R2c2dcc9ce8eb43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4aec2c0ad5473c" /><Relationship Type="http://schemas.openxmlformats.org/officeDocument/2006/relationships/notesMaster" Target="/ppt/notesMasters/notesMaster1.xml" Id="R29c0790a250440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eef755a5d9422e" /><Relationship Type="http://schemas.openxmlformats.org/officeDocument/2006/relationships/notesMaster" Target="/ppt/notesMasters/notesMaster1.xml" Id="Rfdb0f7f1b7d442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8a0283349a4944" /><Relationship Type="http://schemas.openxmlformats.org/officeDocument/2006/relationships/notesMaster" Target="/ppt/notesMasters/notesMaster1.xml" Id="R9521883d15ba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a1563b30914691" /><Relationship Type="http://schemas.openxmlformats.org/officeDocument/2006/relationships/notesMaster" Target="/ppt/notesMasters/notesMaster1.xml" Id="R4f4673b18e5945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2f3550deca47d1" /><Relationship Type="http://schemas.openxmlformats.org/officeDocument/2006/relationships/notesMaster" Target="/ppt/notesMasters/notesMaster1.xml" Id="R44eb0343b11f44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2bf3d8a1134adf" /><Relationship Type="http://schemas.openxmlformats.org/officeDocument/2006/relationships/notesMaster" Target="/ppt/notesMasters/notesMaster1.xml" Id="R31135440ee4246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ed67be832430e" /><Relationship Type="http://schemas.openxmlformats.org/officeDocument/2006/relationships/notesMaster" Target="/ppt/notesMasters/notesMaster1.xml" Id="Rd6c6516006ce4a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9d91810a57430b" /><Relationship Type="http://schemas.openxmlformats.org/officeDocument/2006/relationships/notesMaster" Target="/ppt/notesMasters/notesMaster1.xml" Id="R612952cc814548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0f1e7b16af4cae" /><Relationship Type="http://schemas.openxmlformats.org/officeDocument/2006/relationships/notesMaster" Target="/ppt/notesMasters/notesMaster1.xml" Id="R75123988c1b94b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185c5d0dfa4fee" /><Relationship Type="http://schemas.openxmlformats.org/officeDocument/2006/relationships/notesMaster" Target="/ppt/notesMasters/notesMaster1.xml" Id="Rc2e72794c64d43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43caa90254bb6" /><Relationship Type="http://schemas.openxmlformats.org/officeDocument/2006/relationships/notesMaster" Target="/ppt/notesMasters/notesMaster1.xml" Id="R7117aee60b8248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827b6bb4af42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f0a93c952d4c7b" /><Relationship Type="http://schemas.openxmlformats.org/officeDocument/2006/relationships/slideLayout" Target="/ppt/slideLayouts/slideLayout1.xml" Id="R5712be012f9144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12be012f9144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9e8c582404f22" /><Relationship Type="http://schemas.openxmlformats.org/officeDocument/2006/relationships/notesSlide" Target="/ppt/notesSlides/notesSlide1.xml" Id="R7e9c5f405af64e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25130e1434dc7" /><Relationship Type="http://schemas.openxmlformats.org/officeDocument/2006/relationships/notesSlide" Target="/ppt/notesSlides/notesSlide2.xml" Id="R4ecd2706d1af44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1d0a69ed34105" /><Relationship Type="http://schemas.openxmlformats.org/officeDocument/2006/relationships/notesSlide" Target="/ppt/notesSlides/notesSlide3.xml" Id="Rebbaafc27e4b48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d70194ba4365" /><Relationship Type="http://schemas.openxmlformats.org/officeDocument/2006/relationships/notesSlide" Target="/ppt/notesSlides/notesSlide4.xml" Id="R4bb78d06519a4d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25ee09fa47ce" /><Relationship Type="http://schemas.openxmlformats.org/officeDocument/2006/relationships/notesSlide" Target="/ppt/notesSlides/notesSlide5.xml" Id="R7267f7308377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ca3bc1bd3418a" /><Relationship Type="http://schemas.openxmlformats.org/officeDocument/2006/relationships/notesSlide" Target="/ppt/notesSlides/notesSlide6.xml" Id="Rbc524832171848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d93f0e79246f8" /><Relationship Type="http://schemas.openxmlformats.org/officeDocument/2006/relationships/notesSlide" Target="/ppt/notesSlides/notesSlide7.xml" Id="R8332dc25738442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2fab2806b40de" /><Relationship Type="http://schemas.openxmlformats.org/officeDocument/2006/relationships/notesSlide" Target="/ppt/notesSlides/notesSlide8.xml" Id="R0d4810c79f9242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b0de94a5644f8" /><Relationship Type="http://schemas.openxmlformats.org/officeDocument/2006/relationships/notesSlide" Target="/ppt/notesSlides/notesSlide9.xml" Id="R4ae2d17d5ef140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8d3b2ba394be5" /><Relationship Type="http://schemas.openxmlformats.org/officeDocument/2006/relationships/notesSlide" Target="/ppt/notesSlides/notesSlide10.xml" Id="Reeeae2abb1f542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82e82ce7f4295" /><Relationship Type="http://schemas.openxmlformats.org/officeDocument/2006/relationships/notesSlide" Target="/ppt/notesSlides/notesSlide11.xml" Id="Rdace0f44711c47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bf75ef744a2c" /><Relationship Type="http://schemas.openxmlformats.org/officeDocument/2006/relationships/notesSlide" Target="/ppt/notesSlides/notesSlide12.xml" Id="Rd4688be559e049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63736-4A47-41D8-856A-0905650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E1EE0-E568-4718-8024-981B3783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F"/>
              </a:gs>
              <a:gs pos="45000">
                <a:srgbClr val="0B1E3A"/>
              </a:gs>
              <a:gs pos="100000">
                <a:srgbClr val="102C5E"/>
              </a:gs>
            </a:gsLst>
            <a:lin ang="75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EEF18-39FF-41E8-93EB-7455C93D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5D463-D7CC-47E3-A7DD-CD49B7A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PEA AI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FE48E-09DD-479E-BD20-637AD3CF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7620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43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Stop Buying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43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What We Already Have.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4CC1F-C407-4FC1-A3B5-CD6CDF5B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723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BFF"/>
                </a:solidFill>
                <a:latin typeface="Kanit"/>
                <a:ea typeface="Kanit"/>
                <a:cs typeface="Kanit"/>
              </a:defRPr>
            </a:pPr>
            <a:r>
              <a:rPr sz="1800" b="0">
                <a:solidFill>
                  <a:srgbClr val="DDEBFF"/>
                </a:solidFill>
                <a:latin typeface="Kanit"/>
                <a:ea typeface="Kanit"/>
                <a:cs typeface="Kanit"/>
              </a:rPr>
              <a:t>AI-powered inventory planning with a Dead Stock Marketplace, transfer-first procurement, and explainable approval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EF6F4-5BB5-4DFB-A0AE-3D3277C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733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BD7FF"/>
                </a:solidFill>
                <a:latin typeface="Kanit"/>
                <a:ea typeface="Kanit"/>
                <a:cs typeface="Kanit"/>
              </a:defRPr>
            </a:pPr>
            <a:r>
              <a:rPr sz="1425" b="0">
                <a:solidFill>
                  <a:srgbClr val="BBD7FF"/>
                </a:solidFill>
                <a:latin typeface="Kanit"/>
                <a:ea typeface="Kanit"/>
                <a:cs typeface="Kanit"/>
              </a:rPr>
              <a:t>แพลตฟอร์มวางแผนพัสดุที่ช่วยเห็นของเกินก่อนซื้อใหม่ ลดของจม ลดเอกสาร และอธิบายได้ว่าระบบแนะนำจากอะไร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1781A-5797-4D19-8782-3F7E206F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D3FC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7DD3FC"/>
                </a:solidFill>
                <a:latin typeface="Kanit"/>
                <a:ea typeface="Kanit"/>
                <a:cs typeface="Kanit"/>
              </a:rPr>
              <a:t>AI Suggestion  •  Dead Stock Exchange  •  Transfer Before Purchase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6119-58A0-43D4-969A-31E5FB03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843D8-2B2F-4571-9D15-C89C75B2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6DB9A-CF7E-49A0-AC69-F26B49E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054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Inventory 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C0945-F7AB-481D-98E1-9F428E80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007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13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เห็นของขาดและของเกินในภาพเดียว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89DFC-D92F-4869-B31C-46CEE853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244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F37A5-DE25-422C-8D42-FA43435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14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9747B-82FB-4E28-818B-0868249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054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Transfer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9C027-3DDD-4958-A017-312B9C76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007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13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ยืม/โอนก่อนสร้างคำขอซื้อใหม่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A2B56-1162-4114-BD66-04ED15C7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244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F0A1AC-35E4-4A8C-849F-CCE0ADC3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14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DFA87-C217-44D6-B8EC-33D21E6E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054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Audit always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B3D60-7C6C-4C0B-A012-C0A0D973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0070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13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เก็บเหตุผล, snapshot และผลจริง</a:t>
            </a:r>
          </a:p>
        </p:txBody>
      </p:sp>
    </p:spTree>
    <p:extLst>
      <p:ext uri="{BB962C8B-B14F-4D97-AF65-F5344CB8AC3E}">
        <p14:creationId xmlns:p14="http://schemas.microsoft.com/office/powerpoint/2010/main" val="18653619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B59212-5DF7-4F71-A40F-76F37C04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A8D47-EAEE-4E14-B6FC-38440C44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22552-30CF-4B0D-B0C3-868AD3F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Inventory risk is invisible imbalance.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94DEA-64B7-4927-A1CB-A079D7A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ปัญหาไม่ได้มีแค่ของขาด แต่คือบางคลังขาด บางคลังเกิน และระบบมองไม่เห็นพร้อมกัน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A511C-FAC6-4FC7-BF1E-BAE58212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66659-8907-4519-9CD8-8FA23129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2462-FD9B-49E5-8DC1-4089F5DC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3000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6EC90-28AB-4F84-8212-1934BE0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Warehouse A: Shortage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49416-5C98-4631-9BD1-1A8C494C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6955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Stock below Reorder Point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Urgent PR starts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Approval and documents add delay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Safety Stock rises next 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F7427-C666-40D3-AF82-25C64F72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000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287F5-9934-46BE-A39C-961E9E3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Warehouse B: Dead Stock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916D2-14BA-4182-8FB5-22E56773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6955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Slow-moving inventory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Cash tied up in shelves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No easy channel for other WH to borrow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Overstock becomes invisible waste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F9439-EA4A-428E-8612-2AA7A39B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33600"/>
            <a:ext cx="30003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577B4-19A4-4B34-AAEA-705B108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2695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Procurement sees only 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47229F-F324-4094-AE4E-8F841EB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6955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Request arrives as a document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Not enough visibility into unused stock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Duplicate purchase can happen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Accountability comes too late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A0F17-6FF8-48E7-A46C-C4058F7D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990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8FFA8-2593-4197-ABB9-CDDB49D8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72000"/>
            <a:ext cx="960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Core insight: Overstock and shortage are two sides of the same planning gap.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แก่นของปัญหา: ของจมกับของขาดเกิดจากข้อมูล stock, usage, lead time และ procurement ไม่เชื่อมกันทันเวลา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2B232-9B9F-4221-9195-AE32B751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Without a shared inventory marketplace, every warehouse optimizes alone.</a:t>
            </a:r>
          </a:p>
        </p:txBody>
      </p:sp>
    </p:spTree>
    <p:extLst>
      <p:ext uri="{BB962C8B-B14F-4D97-AF65-F5344CB8AC3E}">
        <p14:creationId xmlns:p14="http://schemas.microsoft.com/office/powerpoint/2010/main" val="144689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DA5AC-B110-4607-83A1-A1A0D9F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3E1E4-8FE2-4B85-9FC6-C991BA3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HIDDEN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55108-970C-45A4-BD54-C222078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Paperwork is hidden lead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EE288-CAAF-40BD-AA37-C29210F1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ขั้นตอนเอกสารจัดซื้อจัดจ้างคือ Lead Time ที่ซ่อนอยู่ และส่งผลต่อ Safety Stock โดยตรง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E71C2-3BB5-490C-83EA-43A6E637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F05BD-205B-482F-9D28-F1C44D33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EFC5-E9BF-4894-A6C2-8BB9B71A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4FE71-81D0-45F4-8888-5A03D6C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Total Lead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569B7-B251-43BD-B2B0-9CF7226C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81250"/>
            <a:ext cx="38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9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222B5-AA96-42E1-ADEA-E10A8BC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479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60726-D1A7-4F89-81A0-F15D3FE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163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Document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A3AB2-1484-40F1-82D0-65720C8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717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CA881-F652-493A-947F-6E6ECF6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479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E0A17-4AA9-4404-B7DF-6BB68D1B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16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Approval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6D386-CB20-442D-A20E-51FB3EB3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717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F44CF-3678-49E5-96A3-C05C226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7979D-A62E-4B42-A3CC-156B948C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163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Procurement 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264EB-EC64-45F6-BE68-1A26746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71725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59F1D2-780A-4DA0-A1A8-F5B4430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4790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F1489-128E-425B-9E59-C981A3F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003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163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Supplier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FCFF1-7F7F-4C1F-8117-F41DD0AD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D64FA-B0C6-4397-8827-597CDB2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Reduce documents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E71A6-FB56-4570-871C-BF7ACCD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Move request, evidence, approval and supplier contact into one workflow.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BB5F6-28E3-4778-B639-E00E5A6B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43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D969-E3A6-44DE-A010-785A53BA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651353-DC97-4FF5-9B3A-A0CA2A02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Lead Time drops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DAB1C-A526-4266-9B8F-55555B1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862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Adjusted Lead Time becomes shorter and less volatile.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A6F5D-82E5-4275-9447-EAC7505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43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30D502-9A61-462F-8C80-107D9D45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00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68E6F-1428-4506-A08F-B89FBBFF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Safety Stock drops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08DD2-8142-4A1F-AD4E-46280A40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Safety Stock = Z × variability × √Adjusted LT.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050F64-31C5-40F2-AD62-39EEF35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4337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29568F-F083-4B59-B578-70902B1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100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C2EC3-A85C-4A3C-8734-745E74F5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433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Less cash tied 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0356EC-F550-4713-8C58-8CA91A9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8625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Lower ROP and fewer emergency PRs.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A92B23-C540-4DC7-9129-A87DB90F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1005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AC823F-3E89-48BD-858F-E3972FD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448300"/>
            <a:ext cx="975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Business logic: if document process lead time is the longest part, digitizing the procurement flow can reduce both replenishment delay and inventory buffer.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ตรรกะธุรกิจ: ลดเอกสาร = ลด Lead Time = ลด Safety Stock และจุดสั่งซื้อใหม่ได้มาก</a:t>
            </a:r>
          </a:p>
        </p:txBody>
      </p:sp>
    </p:spTree>
    <p:extLst>
      <p:ext uri="{BB962C8B-B14F-4D97-AF65-F5344CB8AC3E}">
        <p14:creationId xmlns:p14="http://schemas.microsoft.com/office/powerpoint/2010/main" val="12663636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88898-D2AC-4CAF-B651-76F3083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E537C-30F8-4DFB-B60F-23357218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SOLUTION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1F0BA-900D-4448-8DFA-03FA4FF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The marketplace makes excess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3F0C8-279D-46A6-AF37-C809D37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ตลาดกลางของจมทำให้เห็นว่าใครมีของเกิน ใครต้องการของ และควรโอนก่อนซื้อใหม่หรือไม่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1A738-8A90-4D9E-A8AC-40663AF1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5EE88-63B7-4B59-8740-B57F308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18D97-700D-42EA-9C9C-B8C98BC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D5D1B-874D-4B5D-AD62-DA1A0BF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Detect surplus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49CD0-22E4-4EDC-BE2A-8176104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AI finds slow/dead stock from cover, usage and season risk.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ตรวจเจอของเกิน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0DC10-2B24-49DC-BAE2-A1DCD921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A7FD6-7AE4-465B-8C99-27EAD115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E1431-6DAA-48B1-BAD1-691319E0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098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Publish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8F59F-AF50-4368-ACB0-099FF2E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Warehouse exposes transferable stock, condition and quantity.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ประกาศของที่โอนได้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449E1-361E-40B2-9A87-83B6263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6B150-0D32-46C6-B2DF-326E3B8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012C9-2C71-4C9E-A3E5-E4A14E9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Match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A9244-6AE6-40D1-BBAD-9680856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Match shortage WH, SKU, distance and urgency.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จับคู่คลังที่ต้องการ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D3F3B-C8ED-4214-A66E-44F6084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A8B89-3300-4F29-A0BF-F51A061F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4732E-C5D8-4EFA-AC93-A668C56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098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Transfer / borrow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11878-6E38-4CC5-A03B-3DC6D82D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Create transfer request with approval and audit.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โอนพร้อมหลักฐาน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686D2-F1A7-42D0-84D7-92928BD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0CFDE-AD1C-4141-ACA2-774B941E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714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8BE90-3568-441D-A4BE-FBD110B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Buy only if needed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34052-77C8-4010-9CEB-9B6BCEAF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409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If no match, create PR with budget route.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ซื้อใหม่เมื่อจำเป็น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9B5E4-3E95-469D-8D3A-CB73C61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0BF2EC-D043-45A3-A517-E49C90A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19650"/>
            <a:ext cx="967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This turns dead stock into internal supply before procurement starts.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ของจมไม่ใช่แค่ waste แต่กลายเป็น supply ภายในองค์กรก่อนสร้างคำขอซื้อ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BF2DD-6D5A-4178-B9C0-8C151AB1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19750"/>
            <a:ext cx="765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22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Marketplace rule: Transfer-first, purchase-second.</a:t>
            </a:r>
          </a:p>
        </p:txBody>
      </p:sp>
    </p:spTree>
    <p:extLst>
      <p:ext uri="{BB962C8B-B14F-4D97-AF65-F5344CB8AC3E}">
        <p14:creationId xmlns:p14="http://schemas.microsoft.com/office/powerpoint/2010/main" val="8086137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FB7536-2224-4CDF-AA99-99DCDC9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883AC-CAB9-410F-B7FA-48651ABE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AI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C8C04-B0EB-4DAF-AFAB-DD073AA2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AI chooses the next best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06EF8-A2E3-4D4B-917D-D4A7AB67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AI ไม่ได้แค่บอกจำนวนซื้อ แต่ช่วยเลือกว่าควรใช้ของเดิม โอน ยืม หรือซื้อใหม่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BD27B-21AF-4DE0-A078-F06B75BC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5920B-DDCD-4559-A7D6-281FF1B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807D0-0337-4778-95B6-ACAA023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C48BE-E5B3-4011-B954-EB96EE1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53E4F-113A-4215-BBB1-8B5CBC1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288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Usage history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Current stock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Season pattern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Supplier LT / MOQ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Budget policy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Delay history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Dead stock availability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D0BB7-5943-43C0-AB17-E684809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9B20-753B-463B-A666-5ABD97F9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9F8C0-9D20-4F5C-A08A-712BBF0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336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AI Decision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B0973-C3EE-49BA-8606-CBA4FAC6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1. Forecast demand by season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2. Calculate Safety Stock / ROP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3. Search internal marketplace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4. Compare supplier cost + lead time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5. Route budget approval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6. Explain the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9EDA8-C530-4EF7-A2CB-A358C85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276E0-9B4B-49F2-84CB-9EF5A25D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2333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77E9-9B8F-458D-A2EF-D768E1B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2028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E3916-10C5-4BCC-91D8-EFCE455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20288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Transfer suggestion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AI Suggested Quantity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Approval layer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Over-order warning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Calculation Snapshot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Forecast error tracking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A5562-38DF-4882-9CD6-F88D8E4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619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38FFF-2CBD-40F6-824A-6CB71591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241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Human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94C85-5025-4C79-A431-7004DBF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67000"/>
            <a:ext cx="1314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User can override, but must give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ระบบช่วยตัดสินใจ ไม่ได้ตัดสินใจแทน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31BC2-6E2F-411E-8F4A-EAF3250E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009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74E8A-592A-41C3-8B0E-145D86BC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791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AI value: not a black box. It combines calculation, matching, explanation, and learning from actual outcomes.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จุดเด่น AI: แนะนำ + อธิบาย + จับคู่ของจม + เรียนรู้จากค่าจริง</a:t>
            </a:r>
          </a:p>
        </p:txBody>
      </p:sp>
    </p:spTree>
    <p:extLst>
      <p:ext uri="{BB962C8B-B14F-4D97-AF65-F5344CB8AC3E}">
        <p14:creationId xmlns:p14="http://schemas.microsoft.com/office/powerpoint/2010/main" val="17391621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6350B-9E78-46BA-A28F-18C988E1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26F7-4F26-4751-BF8A-FC20A761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PROCUREMENT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FF02B-2F37-41E7-9BF5-42573249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The purchase flow becomes transfer-first.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FD36C-C9B8-49C8-8048-34EDE3B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ก่อนสร้างคำขอซื้อ ระบบเช็กของจมและทางเลือกโอนย้ายเพื่อไม่ให้ซื้อซ้ำโดยไม่จำเป็น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EBA03-C4C7-4E04-897A-6183CE82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489F3-5736-499B-BCCA-D51C10CB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EC5C9-C99C-43FD-8CF2-34BF140E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90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E043-8AEE-4237-BE6C-28FC0B5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1. Need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B31E9-1739-4CE2-A890-6DCE367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Stock below ROP or seasonal risk appears.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คลังเริ่มมีความเสี่ยง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F2FD6-F859-4AE0-B53F-71C8F4C0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9DAFF-1777-4581-8460-C0EA0D5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90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1F18A-B0D5-46E6-9B76-103EED7C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46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2. AI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BDA2B-AA59-4653-ABCB-1B760ECE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Calculate quantity and search marketplace.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คำนวณและหาของในระบบ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F72AE0-3E3E-4A86-9118-0482E538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E4E17-32B4-4E01-B1BE-6BB3A2C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81250"/>
            <a:ext cx="190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43CCB-0750-4E15-8A6E-8C7B312E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3. Transfer option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81A10-9B74-4161-816F-851D6534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If another WH has surplus, recommend transfer/borrow.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เสนอทางเลือกยืม/โอน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286DA-4FAE-466B-AA15-607817C6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7D02C-345F-4BE4-8692-F07F9AE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81250"/>
            <a:ext cx="190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65B45-4C64-411B-A429-C6202F5B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4. PR only if 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973D9-B647-4D6E-8FF0-2B10104F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If no internal match, create PR with reason and budget route.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ซื้อใหม่เมื่อไม่มี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C8FC3-1A98-4C4A-A482-58434DA0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99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F4EBC-79BC-4BAB-B8C4-87D97DDC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190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138E53-17E4-4671-9DBC-A878E493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146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5. Approval + audit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4EA1D-D419-4AA7-82CF-FE59C2F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57500"/>
            <a:ext cx="1600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Approver sees snapshot, reason, contact log and budget.</a:t>
            </a:r>
          </a:p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อนุมัติพร้อมหลักฐาน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A137E-8C92-44F2-8489-F7881DF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10172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0D09D-9423-49A2-9970-05E265B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9867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Procurement impact: fewer manual documents, fewer duplicated PRs, and every exception has a reason.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ผลต่อจัดซื้อ: ลดงานเอกสาร ลดคำขอซื้อซ้ำ และรู้ว่าใครขอเกินเพราะอะไร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AAD00A-DA9E-4A86-A821-DF3EFDB8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53100"/>
            <a:ext cx="758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From “create PR first” to “use available stock first”.</a:t>
            </a:r>
          </a:p>
        </p:txBody>
      </p:sp>
    </p:spTree>
    <p:extLst>
      <p:ext uri="{BB962C8B-B14F-4D97-AF65-F5344CB8AC3E}">
        <p14:creationId xmlns:p14="http://schemas.microsoft.com/office/powerpoint/2010/main" val="777648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1D2EF-6EBC-4CA9-904F-AD0D3F31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5033D-683F-4F6C-A4DE-CE5E095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850F3-51C6-44B3-AA1D-D0DF71A7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Over-ordering becomes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63427-FFB3-4DB9-9D00-5BCA2643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ต่อให้สั่งเกิน ระบบต้องรู้ว่าเกินเพราะอะไร ใครอนุมัติ และผลจริงหลังใช้งานเป็นอย่างไร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B4F3-ED97-4EBF-9DA8-B5F212F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6AB7A-6DD4-4A92-9DDF-4C30DAA2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5730A-11C9-4D28-A324-78410D05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706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D4E50-0AEA-4C37-A6B9-4E24BB6F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Before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21BED-12E6-4D99-817B-E073601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47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D71FE-9ED5-4A20-8A83-492DB014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47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Evidence captured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AB9DDE-35DA-40AB-8232-6782CE4E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479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EB9E4-08F5-4C21-B7DB-CB0C502F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1CE85-D869-43DA-BF82-7AD918F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Excel / phone 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6AC30-D85E-4B20-8F43-F785A07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Single request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D0980-D03E-4AA6-AA32-84F25C6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Snapshot + contact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CB4AC-C771-450A-93FF-F19BA4C0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Auditor sees exact decision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61367-2588-4882-9045-3BC81EC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8C6BF-A165-4CEC-ADB8-D0BE9387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Quantity by 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C4B28-760F-4D93-905F-8C489B8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AI suggested vs requested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1EBCD-6D45-45FA-9F7D-E895E07B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Variance + override reason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EA9DD-F684-419C-ADFB-932EE973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Shows who ordered above recommendation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C1133-691D-4FBA-99E2-34BDD26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B381B-0E7F-42FC-9694-EAC5FEDE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No outcome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8425A-ECF8-4422-9D05-6BD1A526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Actual usage tracked later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3123B-7FAA-447B-B7F3-9B83C486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672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Forecast error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CEE4D-EB2C-479A-A203-8C0BC67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672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Formula can improve over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C8B24-547F-462B-8FCB-1D0D3F7E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7687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Key message / ข้อความสำคัญ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A5F5C-8AB7-45C5-A3AF-E8639E67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Good procurement is not just buying cheaply. It is buying only when the organization truly needs it.</a:t>
            </a:r>
          </a:p>
        </p:txBody>
      </p:sp>
    </p:spTree>
    <p:extLst>
      <p:ext uri="{BB962C8B-B14F-4D97-AF65-F5344CB8AC3E}">
        <p14:creationId xmlns:p14="http://schemas.microsoft.com/office/powerpoint/2010/main" val="10787340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5887C-C514-435C-8597-8CE97BD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484E9-998B-4A7C-974E-45744737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SEASON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074FB-5397-4453-9403-CCD255D8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Season intelligence predicts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76601-3D3D-4610-A04B-E725327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ระบบเทียบการใช้ตามฤดูกาลเพื่อคาดการณ์คลังที่เสี่ยงของขาดหรือของเกินก่อนถึงรอบจัดซื้อ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577B1-A418-4960-BC44-C74D9AD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FA0D5-4ED6-4DAD-90BB-AC830C05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503E7-0D31-4576-9780-2769D6EB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000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102C7-CF10-49CE-8305-3FC45B47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Seasonal risk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9005E-0072-43D1-B3EB-BFE04E9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Summer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A4332-A3AF-491B-A531-F57F8E98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Rainy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52B26-450C-48AB-A623-7DECE5F7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Winter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B6ED8-E30A-4F34-B8B1-860B8BE8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I010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31738-8F8A-45E8-BC6E-E62B04BA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I020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1D1E1-41F7-4222-B5E8-112A9E26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K010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21AEE-0ACD-4148-87A9-7672CCC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K030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5DB40-1AD0-456D-9E86-F3D6039D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CC6C2-E395-4803-BBC0-DED66FB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7E0DD-2644-41FF-B4FC-456A9978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242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B769E-F50B-41AC-AF6A-9069AC2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Watch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D8178-2125-489E-9FC2-7B34BDC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242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983F4-2980-4034-B0E4-B9E83067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0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Stockout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DB08D-475C-444B-BB9C-50840118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38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BAD07-8E6D-4AD2-A018-2FC49C40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147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Watch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778782-B447-4820-ADAA-A289C69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EB2B4-787A-44D5-82A9-FC84B9D1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147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6FAD3-33CC-48AC-9BB7-A33F297C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E15CD-7258-40D4-9BDE-79CE11F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147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Over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9AAE2-FFC8-47F2-B60E-8CAA03F2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529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73442-AEFB-47BE-AEFC-956E2150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Stockout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F9FD8F-847B-4CC8-B120-DF842D7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7246E5-B9E4-427B-A11F-39CF9CD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Watch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7ECC1-E73C-4948-B25C-7A76F10D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28976-72BD-4D3E-8E11-1425EE5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291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275B8A-1B94-4DD2-8E53-813095F7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672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6E417-2BED-454A-BB54-7B0BA33C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43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778A6-392E-4D61-A4DF-88006F6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672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9601EE-794B-4F3A-9C11-97CAFB47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43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Stockout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0EFB3A-1E8F-49A9-A2F5-1C13BB0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648D25-2CF3-454A-A526-1993FE9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43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1013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Watch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C60000-5887-4103-8BB3-55B900BF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AI looks across WH + SKU + Season, not one warehouse at a time.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76D4CF-8DCF-4885-8D42-C4DCE22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219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01965D-67E9-4454-9E7A-B0D20995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What this enables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427F2E-7B0C-4078-9E87-5F9D163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647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• Transfer before shortage month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• Flag dead stock before year-end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• Adjust Safety Stock by real season risk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• Compare purchase vs borrow by warehouse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ช่วยวางแผนล่วงหน้าว่าคลังไหนควรยืม คลังไหนควรลดซื้อ และคลังไหนเสี่ยงขาด</a:t>
            </a:r>
          </a:p>
        </p:txBody>
      </p:sp>
    </p:spTree>
    <p:extLst>
      <p:ext uri="{BB962C8B-B14F-4D97-AF65-F5344CB8AC3E}">
        <p14:creationId xmlns:p14="http://schemas.microsoft.com/office/powerpoint/2010/main" val="9217263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E3120A-FE98-4945-8FDF-AFE9111A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980B1-3EFF-46A1-AD57-56045F53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82D3A-9264-4ADF-8543-37A60986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Delay logs improve future recommendations.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B8DA3-7ABE-4A6B-8B8E-C432044F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บันทึกรับของและสาเหตุ Delay เพื่อวัดค่าจริงเทียบค่าที่ระบบคำนวณ แล้วปรับสูตรอย่างมีหลักฐาน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666EA-C22F-4775-A72C-6E3CDB7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DE2D-5E4F-4B5B-83CA-EC66833D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890AC-4F27-4482-8689-88D4E0F5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790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68EE8-8DBF-4BAE-A6FA-0185CAB4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2B682-F03B-417E-9CB4-361AB61C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AI calculates suggested quantity, lead time and approval route.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9195B-94AF-44CA-B827-01C75496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099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6D8A7-A8EE-4FD1-89A7-958FFD2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1790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782D7-4669-4163-A38D-8BECA238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90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Execute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873EB-1C13-4EC7-918D-F0E620E8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337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PR, approval, supplier contact and receiving happen in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99764-8C8B-4F55-90AB-2A59BDE5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559FE-4A0F-4589-B53B-6D4B1D4C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790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091BE-0B49-4DBC-BBE9-44DBA281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Record actuals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A48E1-0462-4C9C-BBE6-6B4F9E6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337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Actual delivery date, delay reason and usage are stored.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060B9-FE0E-470E-9B86-60C2BF70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E99D7-45CC-440D-AC82-2C432E0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57450"/>
            <a:ext cx="1790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F6D46-B1BE-49E0-B3F8-2FC8883A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Measure 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30359-6088-488C-95E6-3A0B1022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Compare forecast vs actual usage and planned vs actual lead time.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2D033-658F-4813-92E4-8327832E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E7BB0-5E26-40A5-9381-02C82AB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790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4CFAA7-45F4-4F12-9351-C34DDEE8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908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7C3AED"/>
                </a:solidFill>
                <a:latin typeface="Kanit"/>
                <a:ea typeface="Kanit"/>
                <a:cs typeface="Kanit"/>
              </a:rPr>
              <a:t>Tune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1E690-7987-4227-B095-BD79F3A8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Update formula version with controlled change 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1A0C9-23AE-42D3-A505-1683435B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6C4AD-8FF9-4F83-BC03-F628E193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791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Important: formula improvement should be governed, not blindly automatic. The system proposes tuning from error history, stores version history, and keeps old request snapshots unchanged.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สำคัญ: สูตรไม่ควรปรับมั่วอัตโนมัติ ระบบเสนอการปรับจาก error จริง เก็บเวอร์ชัน และไม่แก้ snapshot เก่า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A967A8-B36B-46EC-86EE-955DF18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6740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95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This answers the mentor question: “What if AI is wrong?”</a:t>
            </a:r>
          </a:p>
        </p:txBody>
      </p:sp>
    </p:spTree>
    <p:extLst>
      <p:ext uri="{BB962C8B-B14F-4D97-AF65-F5344CB8AC3E}">
        <p14:creationId xmlns:p14="http://schemas.microsoft.com/office/powerpoint/2010/main" val="11378581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25EC9-12BB-418E-AB6F-F187EDC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2B755-7AFE-4C13-88A0-B2A41D1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BUSINESS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ECB87-014C-4561-8E01-AB5ED1F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27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Impact lands in lead time, safety stock, and working capital.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C3D4F-F763-41F1-ABA5-A84FE124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ผลลัพธ์ธุรกิจไม่ได้อยู่ที่หน้าจอสวย แต่อยู่ที่ลดเวลา ลดของจม ลดซื้อซ้ำ และตรวจสอบได้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1AB8C-239A-4808-ABD3-FBB89A8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A45A1-4479-48C3-8BDE-AA2FD653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45C9F-FACE-44F0-97AA-20C802AB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655EA-C430-4A45-8A8D-B9796B08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Document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1D1F1-1E53-4F2B-9B78-A2ABDD5D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F4444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EF4444"/>
                </a:solidFill>
                <a:latin typeface="Kanit"/>
                <a:ea typeface="Kanit"/>
                <a:cs typeface="Kanit"/>
              </a:rPr>
              <a:t>↓ 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842DB-A793-4DE9-9C40-F5BAB792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Digital request + approval in one workflow.</a:t>
            </a:r>
          </a:p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ลดรอบเอกสาร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94B75-3911-449C-9B57-8F863300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60B16-C693-49AD-8A6A-8A03555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Safety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D490D-E341-4B7C-9BFB-B0C39052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↓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555C6-0756-4C1A-ADC4-D31FC04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861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Shorter adjusted LT lowers buffer.</a:t>
            </a:r>
          </a:p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ลดพัสดุสำรอง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2AE29-F590-4087-9E28-2AA1009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976E0-37AA-495C-AB02-B1AF14A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Dead Stock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E4B05-23A7-4DE4-AA67-C888561E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F59E0B"/>
                </a:solidFill>
                <a:latin typeface="Kanit"/>
                <a:ea typeface="Kanit"/>
                <a:cs typeface="Kanit"/>
              </a:rPr>
              <a:t>↑ Reuse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71C77-ED2A-4531-BFA1-AC2BFD9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Reuse excess before new PR.</a:t>
            </a:r>
          </a:p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ใช้ของจมก่อนซื้อ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F4EAC-B508-4C7E-AC9C-4ECF9FF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AC918-BD6F-4943-9A87-15F41089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Audit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0867A-D66D-494C-A373-0EAA002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13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240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↑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9AC96-60D0-476F-97F5-0985BD9E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861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Snapshot shows who, why and formula.</a:t>
            </a:r>
          </a:p>
          <a:p xmlns:a="http://schemas.openxmlformats.org/drawingml/2006/main">
            <a:pPr algn="l">
              <a:defRPr sz="990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990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ตรวจย้อนหลังได้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A038D-7ADF-46D9-9FAB-FC4535E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0210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FF8C7-69B0-40AD-B58F-ADD027CE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Pilot KPIs to track: document process LT, transfer-before-buy ratio, dead stock value reused, forecast error, stockout incidents, and over-order variance.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ตัวชี้วัด PoC: เวลาเอกสาร, อัตราโอนก่อนซื้อ, มูลค่าของจมที่นำกลับมาใช้, forecast error, stockout และการขอเกินคำแนะนำ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D73FE-AB4C-4E76-8FD6-68081553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2025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The biggest win is not one cheaper PO. It is a smarter operating rhythm.</a:t>
            </a:r>
          </a:p>
        </p:txBody>
      </p:sp>
    </p:spTree>
    <p:extLst>
      <p:ext uri="{BB962C8B-B14F-4D97-AF65-F5344CB8AC3E}">
        <p14:creationId xmlns:p14="http://schemas.microsoft.com/office/powerpoint/2010/main" val="1769551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1DB31D-B2FE-41CE-919F-2953014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2CEE-73A4-4761-9606-00EC9067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POC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D91D-6862-411D-89C8-4273595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3000" b="1">
                <a:solidFill>
                  <a:srgbClr val="07111F"/>
                </a:solidFill>
                <a:latin typeface="Kanit"/>
                <a:ea typeface="Kanit"/>
                <a:cs typeface="Kanit"/>
              </a:rPr>
              <a:t>Prove it in 20 days.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3B3FA-9288-4AA1-8E58-61EE44F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เริ่มจากหนึ่งเขต กลุ่ม SKU เสี่ยง และ loop ตลาดกลางของจมก่อนขยายผล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AD336-06AA-4F78-BA4D-A10D559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PEA AI Inventory | PoC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2DEAE-EAA8-44CC-92FA-CBB1036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7AA"/>
                </a:solidFill>
                <a:latin typeface="Kanit"/>
                <a:ea typeface="Kanit"/>
                <a:cs typeface="Kanit"/>
              </a:defRPr>
            </a:pPr>
            <a:r>
              <a:rPr sz="900" b="0">
                <a:solidFill>
                  <a:srgbClr val="8A97AA"/>
                </a:solidFill>
                <a:latin typeface="Kanit"/>
                <a:ea typeface="Kanit"/>
                <a:cs typeface="Kani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6712F-FF20-47D2-AEDC-996111C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F49C8-EF84-4E0E-AA44-E1F5D49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Day 1-5 · Data 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436F6-A835-4BEC-9B76-567B175D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WH, Factory/Plant, SKU, stock, usage, lead time, supplier mapping.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DAD31-C49D-4B7C-887C-B34D058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B1CAA-51A1-440B-B21C-141C830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7A5A0-D3A0-45F1-831A-0C5340AE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563EB"/>
                </a:solidFill>
                <a:latin typeface="Kanit"/>
                <a:ea typeface="Kanit"/>
                <a:cs typeface="Kanit"/>
              </a:rPr>
              <a:t>Day 6-10 · AI 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A91DD-BD63-4B58-9C88-B15579D8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Safety Stock, ROP, suggested quantity, explanation and snapshot.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F3D79-232C-4D60-92F2-BFE342BC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670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60E93-21E6-4854-BA4E-7353D97B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77357-BF90-48FC-8A5D-39CCB345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0B981"/>
                </a:solidFill>
                <a:latin typeface="Kanit"/>
                <a:ea typeface="Kanit"/>
                <a:cs typeface="Kanit"/>
              </a:rPr>
              <a:t>Day 11-15 · Marketplace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7D322-8BA0-4253-9053-675C691D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Dead stock listing, transfer/borrow request, PR guardrail.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ADD71-1831-49DE-9613-7B9A343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27E03-D7B5-49CF-80CD-7854EDE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2286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E539F-0528-4710-B3AF-0EFF5A5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7C3AED"/>
                </a:solidFill>
                <a:latin typeface="Kanit"/>
                <a:ea typeface="Kanit"/>
                <a:cs typeface="Kanit"/>
              </a:rPr>
              <a:t>Day 16-20 · Impact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248B6-2C67-4CFD-9EEE-7CD1DD6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1981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3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03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Measure LT, transfer-first ratio, over-order reasons and forecast error.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E98FF-6D75-4A9A-80CA-EBB46BB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D7993-E30D-4C59-B55F-86ECD560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76800"/>
            <a:ext cx="960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Recommended pilot scope: one region, 5-6 high-impact SKUs, warehouses with data coverage, and one transfer-before-buy scenario.</a:t>
            </a:r>
          </a:p>
          <a:p xmlns:a="http://schemas.openxmlformats.org/drawingml/2006/main">
            <a:pPr algn="l">
              <a:defRPr sz="1125" b="0">
                <a:solidFill>
                  <a:srgbClr val="07111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07111F"/>
                </a:solidFill>
                <a:latin typeface="Kanit"/>
                <a:ea typeface="Kanit"/>
                <a:cs typeface="Kanit"/>
              </a:rPr>
              <a:t>ขอบเขตแนะนำ: หนึ่งเขต, 5-6 SKU สำคัญ, คลังที่ข้อมูลครบ และ scenario โอนก่อนซื้อหนึ่งเส้นทาง</a:t>
            </a:r>
          </a:p>
        </p:txBody>
      </p:sp>
    </p:spTree>
    <p:extLst>
      <p:ext uri="{BB962C8B-B14F-4D97-AF65-F5344CB8AC3E}">
        <p14:creationId xmlns:p14="http://schemas.microsoft.com/office/powerpoint/2010/main" val="6568314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5EDA8-CF6F-4502-9372-3914ACF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C6AEC-6DE6-4596-9918-320FD70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F"/>
              </a:gs>
              <a:gs pos="58000">
                <a:srgbClr val="0B2145"/>
              </a:gs>
              <a:gs pos="100000">
                <a:srgbClr val="0F3B7A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AAAF0-DD0A-46C0-A7E1-B20443E1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D3FC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7DD3FC"/>
                </a:solidFill>
                <a:latin typeface="Kanit"/>
                <a:ea typeface="Kanit"/>
                <a:cs typeface="Kanit"/>
              </a:rPr>
              <a:t>CLOSING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FA3FE-A342-4B68-8DF9-F51770ED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From Procurement Workflow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 Inventory Intelligence.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4AC88-1C7C-4844-ACAE-D4C8CC61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BFF"/>
                </a:solidFill>
                <a:latin typeface="Kanit"/>
                <a:ea typeface="Kanit"/>
                <a:cs typeface="Kanit"/>
              </a:defRPr>
            </a:pPr>
            <a:r>
              <a:rPr sz="1725" b="0">
                <a:solidFill>
                  <a:srgbClr val="DDEBFF"/>
                </a:solidFill>
                <a:latin typeface="Kanit"/>
                <a:ea typeface="Kanit"/>
                <a:cs typeface="Kanit"/>
              </a:rPr>
              <a:t>We do not just digitize purchase requests. We teach the organization to see shortage, overstock, transfer options, and decision accountability in one place.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43572-D2D6-4F54-ACE8-824A168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BD7FF"/>
                </a:solidFill>
                <a:latin typeface="Kanit"/>
                <a:ea typeface="Kanit"/>
                <a:cs typeface="Kanit"/>
              </a:defRPr>
            </a:pPr>
            <a:r>
              <a:rPr sz="1425" b="0">
                <a:solidFill>
                  <a:srgbClr val="BBD7FF"/>
                </a:solidFill>
                <a:latin typeface="Kanit"/>
                <a:ea typeface="Kanit"/>
                <a:cs typeface="Kanit"/>
              </a:rPr>
              <a:t>เราไม่ได้แค่ย้ายเอกสารเข้าระบบ แต่ทำให้การวางแผนพัสดุเห็นของขาด ของเกิน ทางเลือกโอนย้าย และเหตุผลการตัดสินใจพร้อมกัน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BC1EB-A62F-47FC-828F-0FAFD8DA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0BBC2-067D-45A9-B830-D21852F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Less dead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FBA3F-7952-433B-AD59-E249892B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C7F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A7C7FF"/>
                </a:solidFill>
                <a:latin typeface="Kanit"/>
                <a:ea typeface="Kanit"/>
                <a:cs typeface="Kanit"/>
              </a:rPr>
              <a:t>ของจมน้อยลง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B272C-F7BA-47D5-9CA8-94231CD0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857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6271B-0113-4569-B6B4-3201ABE7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48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Lower lead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99F82-8482-4979-BAB0-B4AFD94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353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C7F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A7C7FF"/>
                </a:solidFill>
                <a:latin typeface="Kanit"/>
                <a:ea typeface="Kanit"/>
                <a:cs typeface="Kanit"/>
              </a:rPr>
              <a:t>เอกสารเร็วขึ้น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E476B-8D78-4D7A-B7ED-0CD6E1A8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57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1D316-5315-43EA-9EEF-786FF161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Smarter safety 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2E2E2-A1C6-4189-B5B6-641279C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53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C7F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A7C7FF"/>
                </a:solidFill>
                <a:latin typeface="Kanit"/>
                <a:ea typeface="Kanit"/>
                <a:cs typeface="Kanit"/>
              </a:rPr>
              <a:t>สำรองพอดีขึ้น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83EC7-E1CE-48CC-A4F7-A05628B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8577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7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0C0DD-3A4F-4E87-BE0C-2F90D0E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482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Auditable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DABFD-0575-48EA-994D-B9CC0F43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353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C7FF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A7C7FF"/>
                </a:solidFill>
                <a:latin typeface="Kanit"/>
                <a:ea typeface="Kanit"/>
                <a:cs typeface="Kanit"/>
              </a:rPr>
              <a:t>AI อธิบายได้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FF0FC-18D4-4EC0-9F35-B655F41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D3FC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7DD3FC"/>
                </a:solidFill>
                <a:latin typeface="Kanit"/>
                <a:ea typeface="Kanit"/>
                <a:cs typeface="Kanit"/>
              </a:rPr>
              <a:t>PEA AI Inventory Planning &amp; Dead Stock Marketplace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848A8-0307-4523-9E63-5FE851F4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DD3FC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7DD3FC"/>
                </a:solidFill>
                <a:latin typeface="Kanit"/>
                <a:ea typeface="Kanit"/>
                <a:cs typeface="Kani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10806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2026-06-14T07:20:01.0450000Z</dcterms:created>
  <dcterms:modified xsi:type="dcterms:W3CDTF">2026-06-14T07:20:01.0450000Z</dcterms:modified>
</coreProperties>
</file>