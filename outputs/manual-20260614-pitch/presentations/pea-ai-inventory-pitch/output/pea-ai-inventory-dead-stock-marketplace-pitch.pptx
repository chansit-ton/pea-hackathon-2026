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ecb3172a414a9e" /><Relationship Type="http://schemas.openxmlformats.org/officeDocument/2006/relationships/extended-properties" Target="/docProps/app.xml" Id="Rb119715607ab47e7" /><Relationship Type="http://schemas.openxmlformats.org/officeDocument/2006/relationships/officeDocument" Target="/ppt/presentation.xml" Id="Rb449e967982240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9b7907225247b0"/>
  </p:sldMasterIdLst>
  <p:notesMasterIdLst>
    <p:notesMasterId xmlns:r="http://schemas.openxmlformats.org/officeDocument/2006/relationships" r:id="R2644c4b24e524b7b"/>
  </p:notesMasterIdLst>
  <p:sldIdLst>
    <p:sldId xmlns:r="http://schemas.openxmlformats.org/officeDocument/2006/relationships" id="256" r:id="R8c2f0f8dd6224434"/>
    <p:sldId xmlns:r="http://schemas.openxmlformats.org/officeDocument/2006/relationships" id="257" r:id="Refea40cf94e345d0"/>
    <p:sldId xmlns:r="http://schemas.openxmlformats.org/officeDocument/2006/relationships" id="258" r:id="R1bb643d8041c4d8d"/>
    <p:sldId xmlns:r="http://schemas.openxmlformats.org/officeDocument/2006/relationships" id="259" r:id="R331d8b133bd74757"/>
    <p:sldId xmlns:r="http://schemas.openxmlformats.org/officeDocument/2006/relationships" id="260" r:id="R718b1a0ba67f4da5"/>
    <p:sldId xmlns:r="http://schemas.openxmlformats.org/officeDocument/2006/relationships" id="261" r:id="Red2c1d3f380448f3"/>
    <p:sldId xmlns:r="http://schemas.openxmlformats.org/officeDocument/2006/relationships" id="262" r:id="Rc0e47bfbad1f421e"/>
    <p:sldId xmlns:r="http://schemas.openxmlformats.org/officeDocument/2006/relationships" id="263" r:id="R4f6092266e4c4a07"/>
    <p:sldId xmlns:r="http://schemas.openxmlformats.org/officeDocument/2006/relationships" id="264" r:id="R4a6797d577de4bb4"/>
    <p:sldId xmlns:r="http://schemas.openxmlformats.org/officeDocument/2006/relationships" id="265" r:id="Rc40c607d3bcb4053"/>
    <p:sldId xmlns:r="http://schemas.openxmlformats.org/officeDocument/2006/relationships" id="266" r:id="R1ea0991719f242d1"/>
    <p:sldId xmlns:r="http://schemas.openxmlformats.org/officeDocument/2006/relationships" id="267" r:id="Rfd44f86bd8574b3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ec7f16d6fc4484" /><Relationship Type="http://schemas.openxmlformats.org/officeDocument/2006/relationships/slideMaster" Target="/ppt/slideMasters/slideMaster1.xml" Id="R449b7907225247b0" /><Relationship Type="http://schemas.openxmlformats.org/officeDocument/2006/relationships/notesMaster" Target="/ppt/notesMasters/notesMaster1.xml" Id="R2644c4b24e524b7b" /><Relationship Type="http://schemas.openxmlformats.org/officeDocument/2006/relationships/presProps" Target="/ppt/presProps.xml" Id="R9c55fba519694b1e" /><Relationship Type="http://schemas.openxmlformats.org/officeDocument/2006/relationships/viewProps" Target="/ppt/viewProps.xml" Id="R8c125629f80d4ee1" /><Relationship Type="http://schemas.openxmlformats.org/officeDocument/2006/relationships/tableStyles" Target="/ppt/tableStyles.xml" Id="R3c598e9171a841df" /><Relationship Type="http://schemas.openxmlformats.org/officeDocument/2006/relationships/slide" Target="/ppt/slides/slide1.xml" Id="R8c2f0f8dd6224434" /><Relationship Type="http://schemas.openxmlformats.org/officeDocument/2006/relationships/slide" Target="/ppt/slides/slide2.xml" Id="Refea40cf94e345d0" /><Relationship Type="http://schemas.openxmlformats.org/officeDocument/2006/relationships/slide" Target="/ppt/slides/slide3.xml" Id="R1bb643d8041c4d8d" /><Relationship Type="http://schemas.openxmlformats.org/officeDocument/2006/relationships/slide" Target="/ppt/slides/slide4.xml" Id="R331d8b133bd74757" /><Relationship Type="http://schemas.openxmlformats.org/officeDocument/2006/relationships/slide" Target="/ppt/slides/slide5.xml" Id="R718b1a0ba67f4da5" /><Relationship Type="http://schemas.openxmlformats.org/officeDocument/2006/relationships/slide" Target="/ppt/slides/slide6.xml" Id="Red2c1d3f380448f3" /><Relationship Type="http://schemas.openxmlformats.org/officeDocument/2006/relationships/slide" Target="/ppt/slides/slide7.xml" Id="Rc0e47bfbad1f421e" /><Relationship Type="http://schemas.openxmlformats.org/officeDocument/2006/relationships/slide" Target="/ppt/slides/slide8.xml" Id="R4f6092266e4c4a07" /><Relationship Type="http://schemas.openxmlformats.org/officeDocument/2006/relationships/slide" Target="/ppt/slides/slide9.xml" Id="R4a6797d577de4bb4" /><Relationship Type="http://schemas.openxmlformats.org/officeDocument/2006/relationships/slide" Target="/ppt/slides/slide10.xml" Id="Rc40c607d3bcb4053" /><Relationship Type="http://schemas.openxmlformats.org/officeDocument/2006/relationships/slide" Target="/ppt/slides/slide11.xml" Id="R1ea0991719f242d1" /><Relationship Type="http://schemas.openxmlformats.org/officeDocument/2006/relationships/slide" Target="/ppt/slides/slide12.xml" Id="Rfd44f86bd8574b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e68cc59a742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df427ded56477b" /><Relationship Type="http://schemas.openxmlformats.org/officeDocument/2006/relationships/notesMaster" Target="/ppt/notesMasters/notesMaster1.xml" Id="Rf337264174604f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3bbac13f68485a" /><Relationship Type="http://schemas.openxmlformats.org/officeDocument/2006/relationships/notesMaster" Target="/ppt/notesMasters/notesMaster1.xml" Id="R94232d8ac37e44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c1c6b245bc47d2" /><Relationship Type="http://schemas.openxmlformats.org/officeDocument/2006/relationships/notesMaster" Target="/ppt/notesMasters/notesMaster1.xml" Id="Rf7f3e9ad83ce49a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aed99dddb84923" /><Relationship Type="http://schemas.openxmlformats.org/officeDocument/2006/relationships/notesMaster" Target="/ppt/notesMasters/notesMaster1.xml" Id="R18bc69c9e2ff43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c4262c6a814cbd" /><Relationship Type="http://schemas.openxmlformats.org/officeDocument/2006/relationships/notesMaster" Target="/ppt/notesMasters/notesMaster1.xml" Id="Rb3ba270501544f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eabf68235e4c38" /><Relationship Type="http://schemas.openxmlformats.org/officeDocument/2006/relationships/notesMaster" Target="/ppt/notesMasters/notesMaster1.xml" Id="Rcf0e4ef68de94e2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86d0730fab64028" /><Relationship Type="http://schemas.openxmlformats.org/officeDocument/2006/relationships/notesMaster" Target="/ppt/notesMasters/notesMaster1.xml" Id="Rca23c6e3ef9d4e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e9ab90cd3b4671" /><Relationship Type="http://schemas.openxmlformats.org/officeDocument/2006/relationships/notesMaster" Target="/ppt/notesMasters/notesMaster1.xml" Id="Re175f4f2b58e42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682377bd49d4cf7" /><Relationship Type="http://schemas.openxmlformats.org/officeDocument/2006/relationships/notesMaster" Target="/ppt/notesMasters/notesMaster1.xml" Id="Rc4ffe496829644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2e20a1498d4f66" /><Relationship Type="http://schemas.openxmlformats.org/officeDocument/2006/relationships/notesMaster" Target="/ppt/notesMasters/notesMaster1.xml" Id="Re9ac6e41b7d9433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e025933f69b4345" /><Relationship Type="http://schemas.openxmlformats.org/officeDocument/2006/relationships/notesMaster" Target="/ppt/notesMasters/notesMaster1.xml" Id="Re47b2a8453714e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31a8c46c2aa4682" /><Relationship Type="http://schemas.openxmlformats.org/officeDocument/2006/relationships/notesMaster" Target="/ppt/notesMasters/notesMaster1.xml" Id="R0cae70e8a00a42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7f397be1c42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f33485ce5248cc" /><Relationship Type="http://schemas.openxmlformats.org/officeDocument/2006/relationships/slideLayout" Target="/ppt/slideLayouts/slideLayout1.xml" Id="R5b95b3ff412e4e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95b3ff412e4e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551494d71f4bc8" /><Relationship Type="http://schemas.openxmlformats.org/officeDocument/2006/relationships/notesSlide" Target="/ppt/notesSlides/notesSlide1.xml" Id="R956e0a1e14994e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bbce384a0414a" /><Relationship Type="http://schemas.openxmlformats.org/officeDocument/2006/relationships/notesSlide" Target="/ppt/notesSlides/notesSlide2.xml" Id="Rd97306284e2647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7cf59704e4308" /><Relationship Type="http://schemas.openxmlformats.org/officeDocument/2006/relationships/notesSlide" Target="/ppt/notesSlides/notesSlide3.xml" Id="Rb86306abb9d542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ff6723e6d458e" /><Relationship Type="http://schemas.openxmlformats.org/officeDocument/2006/relationships/notesSlide" Target="/ppt/notesSlides/notesSlide4.xml" Id="R4e92fbf3ba1a47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a9bfd2c01f4273" /><Relationship Type="http://schemas.openxmlformats.org/officeDocument/2006/relationships/notesSlide" Target="/ppt/notesSlides/notesSlide5.xml" Id="Rc1a213245af34e1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2f836428b415d" /><Relationship Type="http://schemas.openxmlformats.org/officeDocument/2006/relationships/notesSlide" Target="/ppt/notesSlides/notesSlide6.xml" Id="Ra96090a4606f45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926fccaf6b4e65" /><Relationship Type="http://schemas.openxmlformats.org/officeDocument/2006/relationships/notesSlide" Target="/ppt/notesSlides/notesSlide7.xml" Id="Rf4593bd6f5a644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5fc2ee2e14593" /><Relationship Type="http://schemas.openxmlformats.org/officeDocument/2006/relationships/notesSlide" Target="/ppt/notesSlides/notesSlide8.xml" Id="R1b35416835c543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f5bd5363f4b22" /><Relationship Type="http://schemas.openxmlformats.org/officeDocument/2006/relationships/notesSlide" Target="/ppt/notesSlides/notesSlide9.xml" Id="R9681d373d543490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c2e4e48ac4b50" /><Relationship Type="http://schemas.openxmlformats.org/officeDocument/2006/relationships/notesSlide" Target="/ppt/notesSlides/notesSlide10.xml" Id="R9196ed03efb4491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2d81299594426f" /><Relationship Type="http://schemas.openxmlformats.org/officeDocument/2006/relationships/notesSlide" Target="/ppt/notesSlides/notesSlide11.xml" Id="Re8070bf3abbd49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2e5a03da34f59" /><Relationship Type="http://schemas.openxmlformats.org/officeDocument/2006/relationships/notesSlide" Target="/ppt/notesSlides/notesSlide12.xml" Id="Ra400fcd1a4dc4f5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F32A41-CB17-4BE4-9E4B-F6562E1C5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B4F603-F62D-4D4B-8789-E8DEFD68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-1143000"/>
            <a:ext cx="6477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E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31B8C-C5A5-40EF-BB66-E6F52372F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E6A3E-CD64-45F2-B07E-4EC4E5FB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143500"/>
            <a:ext cx="6477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8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A65D9-171E-429C-9FB5-586E4F6C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AI INVENTORY INTELLIGENCE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D1F66A-9704-4E66-A1A3-DCFC87686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6858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43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Stop Buying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43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What We Already Have.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6A1228-3704-4B28-8C04-AB782EC9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666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BEAFE"/>
                </a:solidFill>
                <a:latin typeface="Kanit"/>
                <a:ea typeface="Kanit"/>
                <a:cs typeface="Kanit"/>
              </a:defRPr>
            </a:pPr>
            <a:r>
              <a:rPr sz="1650" b="0">
                <a:solidFill>
                  <a:srgbClr val="DBEAFE"/>
                </a:solidFill>
                <a:latin typeface="Kanit"/>
                <a:ea typeface="Kanit"/>
                <a:cs typeface="Kanit"/>
              </a:rPr>
              <a:t>หยุดซื้อซ้ำ ถ้าองค์กรยังมีของค้างคลัง และทำให้ทุกคำสั่งซื้ออธิบายได้ด้วย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071201-21BC-4F33-964A-2AE5074A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05200"/>
            <a:ext cx="2343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>
              <a:alpha val="13333"/>
            </a:srgbClr>
          </a:solidFill>
          <a:ln xmlns:a="http://schemas.openxmlformats.org/drawingml/2006/main" w="9525">
            <a:solidFill>
              <a:srgbClr val="FF6B1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C01E01-FA19-4368-978F-9A49D685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52825"/>
            <a:ext cx="2114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Dead Stock Marketplace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94E123-FEFF-4478-A955-DEB2A024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05200"/>
            <a:ext cx="2628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>
              <a:alpha val="13333"/>
            </a:srgbClr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2CEDAF-9C2A-474C-B8FA-9153CB577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52825"/>
            <a:ext cx="2400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Explainable AI Suggestion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4E525-7069-4F73-BAB0-892B9FA0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0520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18A">
              <a:alpha val="13333"/>
            </a:srgbClr>
          </a:solidFill>
          <a:ln xmlns:a="http://schemas.openxmlformats.org/drawingml/2006/main" w="9525">
            <a:solidFill>
              <a:srgbClr val="23C18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CC74A8-E5E4-42FA-9E28-3FC003C3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5282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Audit-Ready Procurement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E27CD2-ACA5-4323-A4E9-01184BD1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1809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9F06D6-9222-4F6F-AE09-50E3D228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171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Core idea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6403DA-E721-4F5F-8AEE-97BB9700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Buy Right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1108DB-556D-41B4-9D38-A4027D06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18F45-E25A-4C93-BC50-583EC49C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67300"/>
            <a:ext cx="1428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AI recommends quantity, budget route and reason before PR.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2B786E-0F16-4FAA-B6EC-06D55B99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00500"/>
            <a:ext cx="2095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EB4446-3CE4-41F6-B7B4-1CF4CB4D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1719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If excess exists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DA55B-14C2-411A-AF23-D9B7A93F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3865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Reuse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9C7C5E-39A6-4870-8E9C-4BF3C5B88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33950"/>
            <a:ext cx="1714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18A"/>
          </a:solidFill>
          <a:ln xmlns:a="http://schemas.openxmlformats.org/drawingml/2006/main" w="0">
            <a:solidFill>
              <a:srgbClr val="23C1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AD7495-B8EE-4AB2-A45E-C6EB1708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673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Surplus stock becomes a transfer option before new buying.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36EBC-3981-4577-979F-E1A32FD9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BD5E1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CBD5E1"/>
                </a:solidFill>
                <a:latin typeface="Kanit"/>
                <a:ea typeface="Kanit"/>
                <a:cs typeface="Kanit"/>
              </a:rPr>
              <a:t>Pitch Deck · PEA Hackathon 2026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44068-6936-4C41-A654-C5DA41F8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BD5E1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CBD5E1"/>
                </a:solidFill>
                <a:latin typeface="Kanit"/>
                <a:ea typeface="Kanit"/>
                <a:cs typeface="Kanit"/>
              </a:rPr>
              <a:t>PEA AI Inventory Prototype · Pitch Deck · 01</a:t>
            </a:r>
          </a:p>
        </p:txBody>
      </p:sp>
    </p:spTree>
    <p:extLst>
      <p:ext uri="{BB962C8B-B14F-4D97-AF65-F5344CB8AC3E}">
        <p14:creationId xmlns:p14="http://schemas.microsoft.com/office/powerpoint/2010/main" val="122649262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D77F0A-DF7A-4C73-A2A7-E7748F20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A0D6DC-1A37-42D6-8484-CDFDCEF3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790808-603D-4D28-95AA-20A316DC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THE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ADBAB-CAA0-401D-A7B0-51189C94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Inventory risk is invisible imbalance.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B31869-3681-4E14-9ADE-B6CB1BCB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ความเสี่ยงไม่ได้มีแค่ของขาด แต่คือของเกินและของขาดที่มองไม่เห็นพร้อมกัน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5A6F3-5CE1-4875-9526-B33958787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D7036-0009-447F-974E-64B58A46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Stockout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4290F6-96BE-4D79-9336-2A63CBD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E5484D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E5484D"/>
                </a:solidFill>
                <a:latin typeface="Kanit"/>
                <a:ea typeface="Kanit"/>
                <a:cs typeface="Kanit"/>
              </a:rPr>
              <a:t>No item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B256E-A824-4126-9568-C53194E0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76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484D"/>
          </a:solidFill>
          <a:ln xmlns:a="http://schemas.openxmlformats.org/drawingml/2006/main" w="0">
            <a:solidFill>
              <a:srgbClr val="E548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48A852-4C31-4A9D-8113-FF0E4FF0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คลังหนึ่งขาดของและต้องเปิดคำขอซื้อใหม่ เพราะไม่เห็น stock จากคลังอื่นทันเวลา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92B182-7387-40C8-B184-F75D7B41C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95500"/>
            <a:ext cx="3143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033C59-70F1-4041-8DBD-A718258B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669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Overstock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982D96-B34A-49F1-AE42-DFA7BEBA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336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Idle item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6E0F7F-842E-453A-807E-0F545D58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28950"/>
            <a:ext cx="276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963319-FE2E-4D3E-98DC-D18B8835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16230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อีกคลังมีของนอนอยู่เกินรอบใช้งาน แต่ไม่มีตลาดกลางให้ประกาศหรือจับคู่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22278-EC96-4092-A430-5856737E1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76500"/>
            <a:ext cx="3143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CFB04-C856-4F1D-853A-544776C9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479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Audit gap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2A633-6A83-468D-BD60-7A506DA68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14650"/>
            <a:ext cx="276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B21B6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5B21B6"/>
                </a:solidFill>
                <a:latin typeface="Kanit"/>
                <a:ea typeface="Kanit"/>
                <a:cs typeface="Kanit"/>
              </a:rPr>
              <a:t>No 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627144-BD0C-4030-A4E5-C30ED153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09950"/>
            <a:ext cx="2762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4BF103-1BEC-415F-905C-28229590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54330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เมื่อเคยสั่งเกิน AI Suggest ระบบเดิมมักตอบไม่ได้ว่าใครสั่งเกิน เพราะอะไร และของถูกใช้จริงไหม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7E0855-5049-4F7E-AAF4-2D6F1BE8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257800"/>
            <a:ext cx="857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6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Result: buying new stock while usable inventory sits elsewhere.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B3F927-EAB5-484E-9D56-E904F4EC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657850"/>
            <a:ext cx="7524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ผลลัพธ์คือใช้งบเพิ่ม ทั้งที่องค์กรอาจมีของพร้อมใช้ซ่อนอยู่ในคลังอื่น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BFCF9-19FC-4A46-9ADE-509DEC2CC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94A3B8"/>
                </a:solidFill>
                <a:latin typeface="Kanit"/>
                <a:ea typeface="Kanit"/>
                <a:cs typeface="Kanit"/>
              </a:rPr>
              <a:t>PEA AI Inventory Prototype · Pitch Deck · 02</a:t>
            </a:r>
          </a:p>
        </p:txBody>
      </p:sp>
    </p:spTree>
    <p:extLst>
      <p:ext uri="{BB962C8B-B14F-4D97-AF65-F5344CB8AC3E}">
        <p14:creationId xmlns:p14="http://schemas.microsoft.com/office/powerpoint/2010/main" val="17904707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9DF27B-228E-4B7F-9639-5FE9B1DC8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DCDD48-801D-499B-8F10-8A27720F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AA451-6E5C-472E-B9D4-8C29264E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THE BIG IDEA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F3911-C344-42D1-864E-E1E3EBB5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Dead Stock Marketplace turns excess into supply.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A6E41-BA37-4829-B812-CDC4274E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ตลาดกลางพัสดุค้างคลังทำให้เห็นว่าใครมีเกิน ใครกำลังขาด และควรโอนก่อนซื้อใหม่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27645-FAEF-4321-A3F0-7FA68F5B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3335">
            <a:solidFill>
              <a:srgbClr val="FF6B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FE36C-0B15-42EC-B532-3D1EB2F0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908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Surplus Warehouses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02B67B-0F08-4E8B-B8F8-7BA212C2C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133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คลังที่ Stock Cover สูง / ใช้น้อย / เสี่ยงเป็น Dead 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126E0C-6475-45FA-AF32-A585BC0AF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52650"/>
            <a:ext cx="24765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3335">
            <a:solidFill>
              <a:srgbClr val="2D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8CFB0-89C6-4B5D-851F-326FF1D1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860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AI Matchmaking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9BAAA-BB37-46DF-B4BE-453395B3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90800"/>
            <a:ext cx="21336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จับคู่ SKU เดียวกัน หน่วยตรงกัน season เหมาะสม และโอนได้ก่อนเปิด PR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1ACBE-05A4-4BC7-AD95-774F59B0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3335">
            <a:solidFill>
              <a:srgbClr val="E548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0471F-E855-42D4-B9F2-47A90575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2133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5484D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E5484D"/>
                </a:solidFill>
                <a:latin typeface="Kanit"/>
                <a:ea typeface="Kanit"/>
                <a:cs typeface="Kanit"/>
              </a:rPr>
              <a:t>Risk Warehouses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A7869-9F06-494E-9EE7-120032C0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95600"/>
            <a:ext cx="2133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คลังที่ Stock ต่ำกว่า ROP หรือมี seasonal shortage 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B6D5B1-8BB7-482E-9AD2-27083949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1381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ABF6BB-8082-4B93-9B26-D2D2A3A1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86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13F41-4A01-4115-827E-D1E2AF41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43250"/>
            <a:ext cx="1371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18A"/>
          </a:solidFill>
          <a:ln xmlns:a="http://schemas.openxmlformats.org/drawingml/2006/main" w="0">
            <a:solidFill>
              <a:srgbClr val="23C18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24A705-EE07-4CDA-8ADE-DC9C407E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C18A"/>
          </a:solidFill>
          <a:ln xmlns:a="http://schemas.openxmlformats.org/drawingml/2006/main" w="0">
            <a:solidFill>
              <a:srgbClr val="23C18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2F4D01-910C-42A9-90C3-EBAEAC66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4005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Before Buy Check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A3A625-DC89-4A75-9D14-50D9F859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762500"/>
            <a:ext cx="561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ก่อนจะซื้อใหม่ ระบบถามก่อนว่า “คลังอื่นมีของนอนอยู่ไหม?”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5F7C40-212E-4029-94D6-7F2BB075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29250"/>
            <a:ext cx="523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650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Dead Stock ไม่ได้ตาย ถ้ามีคนรู้ว่ามันอยู่ที่ไหน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05BAF-F883-42CF-8E70-1A7E05F1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94A3B8"/>
                </a:solidFill>
                <a:latin typeface="Kanit"/>
                <a:ea typeface="Kanit"/>
                <a:cs typeface="Kanit"/>
              </a:rPr>
              <a:t>PEA AI Inventory Prototype · Pitch Deck · 03</a:t>
            </a:r>
          </a:p>
        </p:txBody>
      </p:sp>
    </p:spTree>
    <p:extLst>
      <p:ext uri="{BB962C8B-B14F-4D97-AF65-F5344CB8AC3E}">
        <p14:creationId xmlns:p14="http://schemas.microsoft.com/office/powerpoint/2010/main" val="8622569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E91B2-FC36-4279-BB44-0E0F5389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C345A2-CE8B-4249-8734-AD906475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240229-C6C5-46E3-83D6-422D856D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AI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82002-97DA-4E95-9E4E-C026DF8C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AI recommends before humans request.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7170A5-937D-4824-9A90-0EC4DD9D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AI ไม่ใช่แค่โชว์ตัวเลข แต่รวมข้อมูลหลายด้านก่อนเสนอทางเลือกที่ตรวจสอบได้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2626C-4F79-4E26-8518-40E96AC4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6B1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02E16D-BF41-46CC-B064-2194281F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Usage History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F38C2B-2A92-4DE5-9035-3EE7F568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การใช้ย้อนหลัง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711A6-500B-4FD5-9D44-84C9CE25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D6B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E091CA-33E7-4559-A196-D001BEAD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Current Stock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E254C-2A91-4181-972D-A242C688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194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สต็อกปัจจุบัน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BEA58-7604-423E-A03F-15F02A57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6B1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CE2161-A1C5-4B1C-8AE6-060BDB4D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Lead Time + Delay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110A2-3EDA-4D68-A0D4-31CC0A6A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รอพัสดุและส่งช้า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F0A6A-202B-4B8E-8F21-D6C64C15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D6B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9CE67-E260-4C19-911E-291A8583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Supplier Offer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633E5-F804-4080-BAE7-6EA9BB23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ราคา Lead Time MOQ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B6FDC1-6C68-44BB-96C4-F34DC1E5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6B1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A9941-AE01-48FE-8574-CA0DD83E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29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Budget 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3A870-ADB0-4C84-9991-32AE92E0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20383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งบและเส้นทางอนุมัติ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45DD5C-3976-4BEA-A35D-0EC4705D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571750"/>
            <a:ext cx="3429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3335">
            <a:solidFill>
              <a:srgbClr val="5B21B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3826AF-A7BD-4294-9ECD-E4C4E659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05100"/>
            <a:ext cx="3086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21B6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5B21B6"/>
                </a:solidFill>
                <a:latin typeface="Kanit"/>
                <a:ea typeface="Kanit"/>
                <a:cs typeface="Kanit"/>
              </a:rPr>
              <a:t>AI Recommendation Engine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17E71A-4A86-4BF5-822E-A30F4637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09900"/>
            <a:ext cx="30861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คำนวณ Safety Stock, ROP, Suggested Quantity, Transfer Match, Budget Route และเหตุผล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1CD66D-53BD-46EC-AFED-F89C0CE9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D6B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99F06C-8FCC-4210-9752-EB11D692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098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Order right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CD30B8-CC92-4BDD-96A1-9D8F508E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14600"/>
            <a:ext cx="2038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สั่งให้พอดี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3B98E6-8747-4746-B990-B020EE11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384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3C18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BA6127-3916-489A-8ABB-AB5E0B90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718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Transfer first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FD2059B-9E4C-4CE7-A834-194A47C0E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76600"/>
            <a:ext cx="2038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โอนก่อนซื้อ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C605BD-DF8D-4DD6-B141-AFEFF3D8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04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6B1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E166B7-A750-4A26-896B-0F943BD2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7338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Approve faster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5F3ACE-FD1A-4F12-9A5F-F5BD68E6D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38600"/>
            <a:ext cx="2038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อนุมัติเร็วขึ้น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9D7460-1BC9-4778-B387-2294E4A6E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62450"/>
            <a:ext cx="238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5B21B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92C0A8-3EF0-4752-868F-DD813708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4958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B21B6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5B21B6"/>
                </a:solidFill>
                <a:latin typeface="Kanit"/>
                <a:ea typeface="Kanit"/>
                <a:cs typeface="Kanit"/>
              </a:rPr>
              <a:t>Audit later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78BEC3-B5A2-4EAA-8601-62EC5631C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800600"/>
            <a:ext cx="20383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ตรวจย้อนหลังได้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06E83E-F45B-40A9-9265-BCC6A611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40995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F27EEF-A80C-4FB7-900E-5BA4A0D54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52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5393AF-E19E-44F1-A612-F9EC0604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09950"/>
            <a:ext cx="819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18A"/>
          </a:solidFill>
          <a:ln xmlns:a="http://schemas.openxmlformats.org/drawingml/2006/main" w="0">
            <a:solidFill>
              <a:srgbClr val="23C18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79DF5DF-21EC-4000-8ED0-F9C50CCA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3528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3C18A"/>
          </a:solidFill>
          <a:ln xmlns:a="http://schemas.openxmlformats.org/drawingml/2006/main" w="0">
            <a:solidFill>
              <a:srgbClr val="23C18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23C65AB-A724-4639-862D-C77A1C2D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67250"/>
            <a:ext cx="3333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Concrete AI outputs, not a black box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642210-4531-4174-BE0A-D9720AB5B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9911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ผลลัพธ์ทุกค่าอธิบายที่มาและเก็บเป็น snapshot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4978026-EDB5-44D1-9634-318466AB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94A3B8"/>
                </a:solidFill>
                <a:latin typeface="Kanit"/>
                <a:ea typeface="Kanit"/>
                <a:cs typeface="Kanit"/>
              </a:rPr>
              <a:t>PEA AI Inventory Prototype · Pitch Deck · 04</a:t>
            </a:r>
          </a:p>
        </p:txBody>
      </p:sp>
    </p:spTree>
    <p:extLst>
      <p:ext uri="{BB962C8B-B14F-4D97-AF65-F5344CB8AC3E}">
        <p14:creationId xmlns:p14="http://schemas.microsoft.com/office/powerpoint/2010/main" val="205219872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17BD32-E73D-43A7-8FF9-919EBFC99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1DE9D-D268-48D4-A740-66A6E3AE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B5D97-9CFD-4582-ABD6-7104D5A1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EXPLAINABLE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F459F-E9DF-4F12-B723-1AED64B4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Every recommendation explains itself.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7187E-08E9-4A8D-8FEA-57455DD2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ผู้ใช้เห็นทั้งผลลัพธ์และเหตุผล ไม่ต้องเชื่อ AI แบบเดาสุ่ม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A20BBE-6270-4D3E-8429-E5237F47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ABF4C3-8BA7-4F33-8EB2-978409E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43150"/>
            <a:ext cx="4095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C01 Low Voltage Cable · สายไฟแรงต่ำ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B3BE22-F05B-4E4F-B4F7-22D98004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Average Demand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D73FC-74A3-4E45-9EE3-4FC3DA81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194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600 / 180 = 3.33 m/day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ED5170-A502-4733-8F93-9B2813A7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289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8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ค่าเฉลี่ยการใช้ต่อวัน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15731-1C8D-440C-BA93-E80AF0E9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766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Adjusted Lead 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132DA0-D43C-4DBA-8E5B-C0613701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766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25 × 1.20 × 1.00 = 30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8C44D-7C6D-42DE-B071-A2CE7203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86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8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ระยะเวลารอพัสดุที่ปรับแล้ว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C745D-4644-466A-86B1-30ACA584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338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Safety Stock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D7F00-F239-4DE3-8456-48A67738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7338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1.65 × 2.4 × √30 ≈ 22 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21784-E807-46E3-8DA1-2BE13E1B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8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พัสดุสำรองปลอดภัย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1543C4-CA37-4A3E-811F-36832522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Reorder 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4E200-0F01-41FD-8FED-EFF49FDF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1910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99.9 + 22 ≈ 122 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0648BD-4AA3-473B-9BC0-54A2FE66F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005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8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จุดเริ่มจัดซื้อ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3BB475-0F9B-4C00-8ADA-4FE5B2A4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Suggested Qty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3D070CF-115F-4F37-AA17-1BCABB34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6482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70 - 60 = 10 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7D81A-0454-482A-8760-516CA2F6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577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8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จำนวนที่ระบบแนะนำ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357341-995B-4619-BB17-FFA5A0E8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C5FAB2-D421-47EB-8420-8E3DEDA3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57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Why it matters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89BE9D-C1A8-42CD-9D60-746DD6A4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Trust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8A95F3-A9B0-44B7-8CE5-76160AAC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08FE15-3B2D-424B-8B85-7778A78A3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5280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ผู้ใช้รู้ว่าค่ามาจากข้อมูลใด สูตรใด และจะเปลี่ยนเมื่ออะไรเปลี่ยน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C25145-1A50-48DF-830B-9B9AEF6B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EA4C22-80C5-475B-9176-EE0977E40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1242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Audit 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F5E25C-66E0-417F-B662-7FCA737A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909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Snapshot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FA4D9-26DD-4301-9783-9DA34DAA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862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918042-E254-4D45-ADCF-4CB75541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19550"/>
            <a:ext cx="2000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เมื่อสร้างคำขอ ระบบเก็บค่าคำนวณ ณ วันนั้น ไม่คำนวณย้อนหลังจากสูตรใหม่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428055-A5DA-43A7-BB33-7BB41CD7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914900"/>
            <a:ext cx="4953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9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Explainable AI is adoptable AI.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795792-B967-4B6D-A554-9AF9D88B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3911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AI ที่อธิบายได้ คือ AI ที่คนหน้างานยอมใช้จริง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43F62C-7015-4E42-BF76-2A4A6CC1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94A3B8"/>
                </a:solidFill>
                <a:latin typeface="Kanit"/>
                <a:ea typeface="Kanit"/>
                <a:cs typeface="Kanit"/>
              </a:rPr>
              <a:t>PEA AI Inventory Prototype · Pitch Deck · 05</a:t>
            </a:r>
          </a:p>
        </p:txBody>
      </p:sp>
    </p:spTree>
    <p:extLst>
      <p:ext uri="{BB962C8B-B14F-4D97-AF65-F5344CB8AC3E}">
        <p14:creationId xmlns:p14="http://schemas.microsoft.com/office/powerpoint/2010/main" val="4863812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FAC2AB-8CC4-4AB1-BB97-C6F0F36B5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27C64-DB19-4C3C-84C4-8EFC7659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4564C6-9F1A-42FE-A708-A727F3EB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NEW 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7068A-83A3-4E7D-AF52-9B842230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Transfer first. Buy only when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7829FD-FBA5-4A45-99F2-992D663C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ก่อนเปิด PR ระบบตรวจว่ามีคลังอื่นโอนหรือยืมได้หรือไม่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B4F8C6-03D7-4B4A-B376-30098726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D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C938F-DB5A-4023-B644-08B7188DE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Detect Risk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C419B-DE16-4F61-867B-007E6A39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พบ Stock ต่ำกว่า ROP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88655-DCC8-4A41-9A4A-32BE5A0B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200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A23C6-AF50-4B69-BAFD-9836B1E4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43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5A46E3-6165-4AAD-9A9E-14F68908C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26670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D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8B798B-4C5B-4EE7-AB11-AA96BAAC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800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Search Surplus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4FCF76-103B-4A4C-83AA-11205F3E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1051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ค้นคลังที่มี stock เกิน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C3909-18A7-4463-A694-7EBB7623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00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49C6B-3DEF-4783-A056-871623E2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43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58D035-390A-48C2-B72C-226A257F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670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2D6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71C66-B04D-4C3C-B4DC-7F437DF3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00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Match Season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7B9905-5920-407D-8FB2-A5E5D73F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1051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เช็ก season และ usage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64129B-FF28-4168-B9BF-A0BF71AE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00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4AD269-F803-444C-B14B-1D3A83B1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43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A01279-8861-48AF-98A9-3590B8CD1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6670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13335">
            <a:solidFill>
              <a:srgbClr val="23C18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D7CBA6-97DB-440E-9897-D0000198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2800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Transfer / Borrow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84F09-42B5-4732-9ABF-07FCD522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1051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สร้างคำขอโอนหรือยืม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5C3993-AA17-4620-B9A2-611B4D80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3200400"/>
            <a:ext cx="2476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C1083-7A66-4539-966F-80E68AF0A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1432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16ABF1-C618-425C-818D-524B0324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67000"/>
            <a:ext cx="1809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F6B1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811F4D-4E62-4014-9C06-58FD2F9A7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Buy If Needed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64DEA7-685A-444D-8911-7B37C347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05150"/>
            <a:ext cx="1466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ซื้อเฉพาะเมื่อไม่มีของให้โอน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A251C5-5D0D-4317-A147-C9F1C0B6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86300"/>
            <a:ext cx="819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FF6B1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A9B7E2-8535-4925-B566-81F6094E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76800"/>
            <a:ext cx="7048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Marketplace rule: recommend transfer before new budget is spent.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88D295-A8F1-4D19-A144-701F10E7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57800"/>
            <a:ext cx="689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กฎตลาดกลาง: ถ้าคลังอื่นเติมให้ได้ ระบบต้องเสนอทางเลือกนี้ก่อนใช้เงินซื้อใหม่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B33489-4B89-482F-AFBE-D7831CEB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94A3B8"/>
                </a:solidFill>
                <a:latin typeface="Kanit"/>
                <a:ea typeface="Kanit"/>
                <a:cs typeface="Kanit"/>
              </a:rPr>
              <a:t>PEA AI Inventory Prototype · Pitch Deck · 06</a:t>
            </a:r>
          </a:p>
        </p:txBody>
      </p:sp>
    </p:spTree>
    <p:extLst>
      <p:ext uri="{BB962C8B-B14F-4D97-AF65-F5344CB8AC3E}">
        <p14:creationId xmlns:p14="http://schemas.microsoft.com/office/powerpoint/2010/main" val="19719727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A02129-EE12-43CA-9A78-48B3B457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A603D-861F-471C-8F23-DA5F4DC8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D302BD-5E18-4090-A5E1-5D185C9C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DB788C-BA2A-48AF-9A97-7E053278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Over-ordering becomes accountable.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5D3F4-4D3E-45E7-9024-49E35C72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ถ้าขอมากกว่า AI Suggest ระบบไม่ห้าม แต่ต้องมีเหตุผลและตรวจย้อนหลังได้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8C0ECE-E2FB-4C8A-A285-183897108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0858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199B6-551B-457B-9F37-88D3EE65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SKU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53826-82F5-4D56-924F-4DCF7490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43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AI Suggest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9FA55A-D6DC-42C4-B21D-E3A79847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Requested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4A71ED-0D73-4955-8FA8-E42F5AC29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3431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Variance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7685B4-DFC2-47B3-96AA-04B846F7A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431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Reason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6695A-E1DC-4282-AD46-789E5DC55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4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64748B"/>
                </a:solidFill>
                <a:latin typeface="Kanit"/>
                <a:ea typeface="Kanit"/>
                <a:cs typeface="Kanit"/>
              </a:rPr>
              <a:t>Audit outcome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263DA4-7767-4107-B9F6-2F7546C7D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67000"/>
            <a:ext cx="10363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4AD40-6F58-4BD8-99A0-B53650B7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1028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C01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C4116-EFF6-485E-8C9C-47C1BD1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028950"/>
            <a:ext cx="140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10 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083740-8E6A-45C0-8C5F-4FD75A8D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28950"/>
            <a:ext cx="1409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275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20 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6CA00F-B545-4ECA-B5FC-3277C85C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28950"/>
            <a:ext cx="13144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5484D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E5484D"/>
                </a:solidFill>
                <a:latin typeface="Kanit"/>
                <a:ea typeface="Kanit"/>
                <a:cs typeface="Kanit"/>
              </a:rPr>
              <a:t>+100%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D758C0-6EA7-4851-B62B-51913783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2552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111827"/>
                </a:solidFill>
                <a:latin typeface="Kanit"/>
                <a:ea typeface="Kanit"/>
                <a:cs typeface="Kanit"/>
              </a:rPr>
              <a:t>Emergency reserve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111827"/>
                </a:solidFill>
                <a:latin typeface="Kanit"/>
                <a:ea typeface="Kanit"/>
                <a:cs typeface="Kanit"/>
              </a:rPr>
              <a:t>สำรองเหตุฉุกเฉิน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136C0E-D0F1-4C40-906E-8E0ED8CF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28950"/>
            <a:ext cx="22669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111827"/>
                </a:solidFill>
                <a:latin typeface="Kanit"/>
                <a:ea typeface="Kanit"/>
                <a:cs typeface="Kanit"/>
              </a:rPr>
              <a:t>Snapshot saved</a:t>
            </a:r>
          </a:p>
          <a:p xmlns:a="http://schemas.openxmlformats.org/drawingml/2006/main">
            <a:pPr algn="l">
              <a:defRPr sz="1275" b="0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111827"/>
                </a:solidFill>
                <a:latin typeface="Kanit"/>
                <a:ea typeface="Kanit"/>
                <a:cs typeface="Kanit"/>
              </a:rPr>
              <a:t>อนุมัติพร้อมเหตุผล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039A2B-18DA-45FB-9BAD-283B29A0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8620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51196-D24B-41B3-8771-26875049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005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The goal is not to blame people. The goal is to make every exception explainable.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4B36EF-F9A8-4C0A-A2C5-61B617D8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19550"/>
            <a:ext cx="2952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ไม่ใช่จับผิดคน แต่ทำให้ทุก exception มีเหตุผลและเรียนรู้ต่อได้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040CF-2D61-4E08-A15B-D1A03DA1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10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EAAF9E-208E-4A68-96E0-AC732E45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43500"/>
            <a:ext cx="7200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Who requested more?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2430FB-1418-487B-83C8-85FA4400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81625"/>
            <a:ext cx="720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ใครขอเกินค่าที่ระบบแนะนำ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EDE21B-19FA-4D55-BC9B-02FE044F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245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C75BC1-2850-4D21-839C-C56B1F28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657850"/>
            <a:ext cx="7200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Why was it approved?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25EBAE-FEF4-42A1-A9FE-4A746296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95975"/>
            <a:ext cx="720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ผู้อนุมัติเห็นเหตุผลอะไร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570EAF-4FAF-4743-B951-0044E15D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238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748524-9E5F-4834-9177-F40BEF46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172200"/>
            <a:ext cx="7200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3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Did it become dead stock?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75D7A0-B003-4323-85DC-2C29688E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410325"/>
            <a:ext cx="7200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สุดท้ายของถูกใช้จริงหรือค้างคลัง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382F48-F793-4411-985D-6135AC183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94A3B8"/>
                </a:solidFill>
                <a:latin typeface="Kanit"/>
                <a:ea typeface="Kanit"/>
                <a:cs typeface="Kanit"/>
              </a:rPr>
              <a:t>PEA AI Inventory Prototype · Pitch Deck · 07</a:t>
            </a:r>
          </a:p>
        </p:txBody>
      </p:sp>
    </p:spTree>
    <p:extLst>
      <p:ext uri="{BB962C8B-B14F-4D97-AF65-F5344CB8AC3E}">
        <p14:creationId xmlns:p14="http://schemas.microsoft.com/office/powerpoint/2010/main" val="1716841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0AFD74-B7C0-44B7-AAAA-2FEBB938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700BD-8822-4C67-8DBB-58780CF8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0AE486-2AD5-4FDE-AF72-C01962C7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AI LEARNING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72BA5F-A54A-4341-915F-ACF0D450A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The platform learns from actual outcomes, not opinions.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45F77-5E9B-4BC0-8C8F-E6837B94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ระบบเก็บผลจริงเทียบกับค่าที่ AI แนะนำ เพื่อปรับสูตรเวอร์ชันถัดไปอย่างตรวจสอบได้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F980B-46A1-4C60-A9D4-AC525B05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137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C01D2-3DC2-4DC3-AC74-9DE9114C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623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Suggest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3ABB5-9AED-4F6C-A839-1718D58B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AI แนะนำ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DD73B3-FD60-4802-B36B-4F2654375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242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13230-D09B-4FBF-A03B-1DBEA755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467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71E32-CD6F-4360-8A7A-64B4D42C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57500"/>
            <a:ext cx="137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ABF5D-5980-4C1F-B529-5D2A8239F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1623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1FEBD-BE78-4DEB-8035-B8735AB2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ผู้ใช้ขอจริง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61A88-CE31-4C70-B80B-F4A90701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242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356FA8-F251-4336-BB9E-B4832A3C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67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EA6592-3D4A-44D7-80E6-C85EB92E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57500"/>
            <a:ext cx="137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6A6E87-E6DF-4DFD-87FD-278347C0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1623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Receive /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E6E18C-94FD-427E-91BB-5DB27D08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รับของและใช้งาน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70207E-E013-4D1A-AB7C-26C74B64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17CD78-5DF3-4FCC-B59F-21F88C9B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77F932-FAC1-4546-B1FF-C2B1F941F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137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6B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A41CAB-1592-454D-ADC3-8C98DDD36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623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Measure Error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67B368-6DAE-4BBF-8A77-665C7BE5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วัดความคลาดเคลื่อน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17AB3F-F657-401C-B628-C7BDE2D7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24250"/>
            <a:ext cx="552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33151A-FA90-4036-AC6C-D4EB0FC0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671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0A067A-B59C-411E-959B-0BEC95F6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857500"/>
            <a:ext cx="13716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4288">
            <a:solidFill>
              <a:srgbClr val="5B21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369546-7386-4503-B91B-6822796E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162300"/>
            <a:ext cx="1104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B21B6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5B21B6"/>
                </a:solidFill>
                <a:latin typeface="Kanit"/>
                <a:ea typeface="Kanit"/>
                <a:cs typeface="Kanit"/>
              </a:rPr>
              <a:t>Formula vNext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F1C4F6-315C-40EB-A895-D2010579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6766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สูตรเวอร์ชันถัดไป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2B2AD9-A891-4377-BAF0-DE511220A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953000"/>
            <a:ext cx="83439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6E64F6-30B5-4E76-98F0-411BE22F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24450"/>
            <a:ext cx="742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Auto-improvement creates a new formula version.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CD123A-8D05-48DA-AD5A-3670554B8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กฎสำคัญ: ปรับสูตรได้ แต่ต้องเป็นเวอร์ชันใหม่ และไม่แก้หลักฐานเก่าย้อนหลัง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D8C5F9-251E-49B8-BDF8-2D2D7E0C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94A3B8"/>
                </a:solidFill>
                <a:latin typeface="Kanit"/>
                <a:ea typeface="Kanit"/>
                <a:cs typeface="Kanit"/>
              </a:rPr>
              <a:t>PEA AI Inventory Prototype · Pitch Deck · 08</a:t>
            </a:r>
          </a:p>
        </p:txBody>
      </p:sp>
    </p:spTree>
    <p:extLst>
      <p:ext uri="{BB962C8B-B14F-4D97-AF65-F5344CB8AC3E}">
        <p14:creationId xmlns:p14="http://schemas.microsoft.com/office/powerpoint/2010/main" val="97353048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D25A62-02D6-4E0A-B513-F1EDD1F5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D843DE-D69C-4D46-B72E-9ED9F8EBE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D5853-45E9-497E-AEB6-C5E6CBB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SUPPLIER COLLABORATION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97C926-C691-4EC2-A6AB-C5C208F6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VMI starts with reliable stock truth.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F2416-B653-468F-BEAA-9A807BA40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ก่อนให้ซัพพลายเออร์ช่วยเติมของ ต้องรู้ก่อนว่า demand, lead time และ stock จริงเชื่อถือได้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36D9A3-095C-4AF2-8F22-27DE4CC4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6667500" cy="3181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2DFF1-A9A9-4762-8720-D1371A50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Simulation impact · ผลจำลอง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3749F-E96A-4ABF-80CD-A1A3A36E3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575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Safety Stock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16789-D462-42A0-92A7-DC991556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575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Current 30 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BE6A46-A795-4E86-A984-7DA3602A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2D6BFF"/>
                </a:solidFill>
                <a:latin typeface="Kanit"/>
                <a:ea typeface="Kanit"/>
                <a:cs typeface="Kanit"/>
              </a:rPr>
              <a:t>VMI 20 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5C6B30-79C0-4A8B-95AD-992A3FF1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-33%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695C1-99A0-4C84-8672-F9908A07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4325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9FF27-CB6E-47E0-81BE-83A6C1898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956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Reorder Point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4EE8D2-B218-4A01-ADD1-FB5C45186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956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Current 100 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CB8146-BE37-49ED-842C-84A23737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956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2D6BFF"/>
                </a:solidFill>
                <a:latin typeface="Kanit"/>
                <a:ea typeface="Kanit"/>
                <a:cs typeface="Kanit"/>
              </a:rPr>
              <a:t>VMI 75 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594554-E638-485C-9CF8-494CEB90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956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-25%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982DC-504A-46B4-BC12-D74B20A9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8140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25E0C5-19EE-4694-A11F-D7D2A8BC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Lead Time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ECF31D-BF53-4ADB-BA9E-C17A4A06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338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Current 30 days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EBE386-CD68-4C17-B4A4-D2F46D383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338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2D6BFF"/>
                </a:solidFill>
                <a:latin typeface="Kanit"/>
                <a:ea typeface="Kanit"/>
                <a:cs typeface="Kanit"/>
              </a:rPr>
              <a:t>VMI 14 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287CC4-25B4-4F1B-A867-D16A9B323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-53%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228557-DA46-4A89-9C71-DFA681813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25AF50-B11A-4315-9338-27233896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719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Inventory Value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0D97FF-541F-41EC-BCB3-3A7D0427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Current ฿240k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C09C5E-A60F-4EEC-9EEB-0AAAC0D67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719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2D6BFF"/>
                </a:solidFill>
                <a:latin typeface="Kanit"/>
                <a:ea typeface="Kanit"/>
                <a:cs typeface="Kanit"/>
              </a:rPr>
              <a:t>VMI ฿180k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F03481-8CFC-4813-8235-C1ED6740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-25%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66F5CE-EA15-4561-A24D-D61DD0522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5770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1B26A5-FFD1-4C48-95B6-6C730BDE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10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0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Manual Orders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1ADDC8-AE66-429D-AA58-A4628DE5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101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4 / month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16D2BB-41DD-4A1A-A60D-2871463B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010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1050" b="0">
                <a:solidFill>
                  <a:srgbClr val="2D6BFF"/>
                </a:solidFill>
                <a:latin typeface="Kanit"/>
                <a:ea typeface="Kanit"/>
                <a:cs typeface="Kanit"/>
              </a:rPr>
              <a:t>1 / month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10DEF-6AEC-4E31-8E79-7DE11C7A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101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1200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-75%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C75886-AA88-4E7D-BF56-6A399627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95850"/>
            <a:ext cx="5905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F"/>
          </a:solidFill>
          <a:ln xmlns:a="http://schemas.openxmlformats.org/drawingml/2006/main" w="0">
            <a:solidFill>
              <a:srgbClr val="D8E1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44880B-706D-48B7-B82A-3D3AACAA3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33650"/>
            <a:ext cx="26670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32D655-3B0C-4AF8-94B4-B6B69AE1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7051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AI recommendation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B1BBB0-6506-4488-8BF7-CB483991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971800"/>
            <a:ext cx="228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B21B6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5B21B6"/>
                </a:solidFill>
                <a:latin typeface="Kanit"/>
                <a:ea typeface="Kanit"/>
                <a:cs typeface="Kanit"/>
              </a:rPr>
              <a:t>Pilot VMI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56846CD-0ADF-4AEB-A850-7DCFA67A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467100"/>
            <a:ext cx="2286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950E1C-E701-4BA9-A463-756ACF193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600450"/>
            <a:ext cx="228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ทดลอง VMI กับ SKU ที่ demand stable, supplier reliable และ lead time มีหลักฐาน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D3F63E-7F24-4318-9A59-9236936FC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724400"/>
            <a:ext cx="3048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6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VMI is not magic replenishment. It is a controlled experiment built on visibility.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85F516-EA47-4C3F-97B2-6C670521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57800"/>
            <a:ext cx="3086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VMI ใน PoC คือการจำลองและทดลอง ไม่ใช่ให้ supplier เติมของจริงทันที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C46618-E8C6-4FEE-96C6-4AF85AC5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94A3B8"/>
                </a:solidFill>
                <a:latin typeface="Kanit"/>
                <a:ea typeface="Kanit"/>
                <a:cs typeface="Kanit"/>
              </a:rPr>
              <a:t>PEA AI Inventory Prototype · Pitch Deck · 09</a:t>
            </a:r>
          </a:p>
        </p:txBody>
      </p:sp>
    </p:spTree>
    <p:extLst>
      <p:ext uri="{BB962C8B-B14F-4D97-AF65-F5344CB8AC3E}">
        <p14:creationId xmlns:p14="http://schemas.microsoft.com/office/powerpoint/2010/main" val="73847583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7967A1-6F9D-45EF-9B76-5C416F62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74565-214F-4E33-BA94-1467DB82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6060A3-B93A-4AF8-8F04-D6CFF512D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BUSINESS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BDA245-8B5C-423E-9E49-03D61F2F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28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Less waste, faster replenishment, cleaner governance.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7B156B-2920-431C-9745-4852B068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คุณค่าหลักคือใช้ stock ที่มีอยู่ให้คุ้ม ลดซื้อซ้ำ และทำให้ทุกการจัดซื้อมีเหตุผล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D54E2-FC21-4F24-A67E-DADF28B8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8E53A-2D5A-4DC6-909F-463C3D89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Inventory efficiency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5AFDA-B1C2-4A81-9A91-6D8C7E8E2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Reduce waste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8D326-400F-4EA9-A37A-F818150B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C18A"/>
          </a:solidFill>
          <a:ln xmlns:a="http://schemas.openxmlformats.org/drawingml/2006/main" w="0">
            <a:solidFill>
              <a:srgbClr val="23C18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50BD2-3FDB-40A2-AFCB-3C45EFF8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ลด Dead/Slow Stock และใช้ stock ส่วนเกินจากคลังอื่นก่อนซื้อใหม่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053E6-1DFB-47C9-943D-660899E9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474CC5-BE42-47B4-A837-D0CF0DCB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Procurement speed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2E7FD-2544-4D51-B1CF-547F4824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051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Act faster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01715-D115-4DB2-87AF-9716DDF0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2004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BFF"/>
          </a:solidFill>
          <a:ln xmlns:a="http://schemas.openxmlformats.org/drawingml/2006/main" w="0">
            <a:solidFill>
              <a:srgbClr val="2D6B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73340D-AE0D-4DCC-AD01-80336F11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337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Transfer ภายในหรือ VMI pilot อาจเร็วกว่าเริ่ม PR ใหม่ตั้งแต่ศูนย์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B2FACB-8D49-47CA-8C35-80134217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669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A41A2-FD13-4916-A11A-FCBFEEBA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Budget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203895-FD5E-418F-8A78-EF6ACA1D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051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Spend smarter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B43CD8-D880-4BDE-A73E-F0E6BE6D8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1A"/>
          </a:solidFill>
          <a:ln xmlns:a="http://schemas.openxmlformats.org/drawingml/2006/main" w="0">
            <a:solidFill>
              <a:srgbClr val="FF6B1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95DD8C-457B-49F7-8CF5-09A925A6D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337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Budget routing ช่วยรู้ทันทีว่าควรอนุมัติระดับคลัง เขต หรือส่วนกลาง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6DB98F-605A-4518-92F7-2E20531E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66950"/>
            <a:ext cx="2381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F70F9A-A8E6-48FB-9F34-4C928851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Governance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0BE63C-1E0C-4584-8E65-4864D504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0510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5B21B6"/>
                </a:solidFill>
                <a:latin typeface="Kanit"/>
                <a:ea typeface="Kanit"/>
                <a:cs typeface="Kanit"/>
              </a:defRPr>
            </a:pPr>
            <a:r>
              <a:rPr sz="2325" b="1">
                <a:solidFill>
                  <a:srgbClr val="5B21B6"/>
                </a:solidFill>
                <a:latin typeface="Kanit"/>
                <a:ea typeface="Kanit"/>
                <a:cs typeface="Kanit"/>
              </a:rPr>
              <a:t>Explain every exception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CFC8A-4A13-48C8-AD5B-D16F6AEC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00400"/>
            <a:ext cx="200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21B6"/>
          </a:solidFill>
          <a:ln xmlns:a="http://schemas.openxmlformats.org/drawingml/2006/main" w="0">
            <a:solidFill>
              <a:srgbClr val="5B21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E8A27E-AC83-417A-B7E4-8084E9F2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333750"/>
            <a:ext cx="20002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F293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1F2937"/>
                </a:solidFill>
                <a:latin typeface="Kanit"/>
                <a:ea typeface="Kanit"/>
                <a:cs typeface="Kanit"/>
              </a:rPr>
              <a:t>ขอเกิน AI ได้ แต่ต้องมีเหตุผล snapshot และ approval trail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65B881-A67C-4FF4-9305-5485DDEC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AA7735-A96B-417A-B644-C6C9E658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00650"/>
            <a:ext cx="8191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15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Success metric: fewer duplicate purchases, fewer stockouts, and every over-order explained.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5B6EF5-FA9D-4003-9853-5C713407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67350"/>
            <a:ext cx="723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BD5E1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CBD5E1"/>
                </a:solidFill>
                <a:latin typeface="Kanit"/>
                <a:ea typeface="Kanit"/>
                <a:cs typeface="Kanit"/>
              </a:rPr>
              <a:t>ตัวชี้วัด: ซื้อซ้ำน้อยลง ของขาดน้อยลง และทุกกรณีซื้อเกินต้องอธิบายได้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33C622-DF75-4C3A-AB89-AB64FAEB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94A3B8"/>
                </a:solidFill>
                <a:latin typeface="Kanit"/>
                <a:ea typeface="Kanit"/>
                <a:cs typeface="Kanit"/>
              </a:rPr>
              <a:t>PEA AI Inventory Prototype · Pitch Deck · 10</a:t>
            </a:r>
          </a:p>
        </p:txBody>
      </p:sp>
    </p:spTree>
    <p:extLst>
      <p:ext uri="{BB962C8B-B14F-4D97-AF65-F5344CB8AC3E}">
        <p14:creationId xmlns:p14="http://schemas.microsoft.com/office/powerpoint/2010/main" val="210812053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E33C9C7-D5AC-4D3E-97E8-66261C7D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D66E0D-F316-4182-98B5-C7C3D787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9525">
            <a:solidFill>
              <a:srgbClr val="2D6B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EACD93-EF3A-40E7-958E-A43592663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D6BFF"/>
                </a:solidFill>
                <a:latin typeface="Kanit"/>
                <a:ea typeface="Kanit"/>
                <a:cs typeface="Kanit"/>
              </a:defRPr>
            </a:pPr>
            <a:r>
              <a:rPr sz="975" b="1">
                <a:solidFill>
                  <a:srgbClr val="2D6BFF"/>
                </a:solidFill>
                <a:latin typeface="Kanit"/>
                <a:ea typeface="Kanit"/>
                <a:cs typeface="Kanit"/>
              </a:rPr>
              <a:t>20-DAY POC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C98B7-17B4-4245-85BA-0806C4BD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8572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2550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Prove it with one region, six SKUs, one marketplace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4CA11C-8760-493C-A596-A1F2CFB0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500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ทดลองให้เห็นผลเร็วด้วย scope แคบ แต่ครอบคลุม inventory, supplier, approval และ audit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CCCEE2-6238-4430-9567-427CA7FC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F97CE-AC46-4057-AF62-633F0B70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00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Days 1-5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0AFBEF-E58A-461C-800D-9E3ADFD0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875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Data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F3D38-2A56-487D-9719-FAB8F7A2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957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จัด seed/Excel data, WH-Factory mapping, supplier offer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9677A0-0574-4C4C-A874-4CE2DA4E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2BF0B3-787A-401F-919A-BFE57CCE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00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Days 6-10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E3F2F-7F17-4BB5-A2C4-ECB73A19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432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875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AI 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FBD06D-07C7-4798-BC2F-E8535DBC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957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ตรวจสูตร Safety Stock, ROP, Suggested Quantity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30763C-006F-4A95-9020-69BD2F8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71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B1EAE9-DBD0-44BA-BB72-28BD352D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800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Days 11-15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EC6B8E-6A55-4437-AC52-969D1EA8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432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875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Workflow pilot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155D86-2222-46D1-B1DC-C4A65861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957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สร้าง PR, approval, snapshot, transfer suggestion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938384-73C5-47E2-9B4F-7A8E5623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71750"/>
            <a:ext cx="238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FF6B1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8F9803-2E7E-443B-A26F-9A00D3D8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80035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Days 16-20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AC26C-5EEF-4789-88B2-E48D17AD2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143250"/>
            <a:ext cx="1905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Kanit"/>
                <a:ea typeface="Kanit"/>
                <a:cs typeface="Kanit"/>
              </a:defRPr>
            </a:pPr>
            <a:r>
              <a:rPr sz="1875" b="1">
                <a:solidFill>
                  <a:srgbClr val="111827"/>
                </a:solidFill>
                <a:latin typeface="Kanit"/>
                <a:ea typeface="Kanit"/>
                <a:cs typeface="Kanit"/>
              </a:rPr>
              <a:t>Feedback &amp; pitch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A1CCF-4657-4BBE-A0E9-8544D9BA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95700"/>
            <a:ext cx="190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  <a:latin typeface="Kanit"/>
                <a:ea typeface="Kanit"/>
                <a:cs typeface="Kanit"/>
              </a:defRPr>
            </a:pPr>
            <a:r>
              <a:rPr sz="1125" b="0">
                <a:solidFill>
                  <a:srgbClr val="64748B"/>
                </a:solidFill>
                <a:latin typeface="Kanit"/>
                <a:ea typeface="Kanit"/>
                <a:cs typeface="Kanit"/>
              </a:rPr>
              <a:t>วัด error, demo VMI, เตรียม dashboard สำหรับกรรมการ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BA5CC-B6CE-4E81-8833-23388D38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19700"/>
            <a:ext cx="769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23C18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9D38A-492E-47DD-996E-0787042F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53050"/>
            <a:ext cx="704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65F46"/>
                </a:solidFill>
                <a:latin typeface="Kanit"/>
                <a:ea typeface="Kanit"/>
                <a:cs typeface="Kanit"/>
              </a:defRPr>
            </a:pPr>
            <a:r>
              <a:rPr sz="1425" b="1">
                <a:solidFill>
                  <a:srgbClr val="065F46"/>
                </a:solidFill>
                <a:latin typeface="Kanit"/>
                <a:ea typeface="Kanit"/>
                <a:cs typeface="Kanit"/>
              </a:rPr>
              <a:t>PoC scope: inventory intelligence first, procurement workflow second.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0AEBD-6233-404B-9D21-191C6BA5F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619750"/>
            <a:ext cx="666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047857"/>
                </a:solidFill>
                <a:latin typeface="Kanit"/>
                <a:ea typeface="Kanit"/>
                <a:cs typeface="Kanit"/>
              </a:defRPr>
            </a:pPr>
            <a:r>
              <a:rPr sz="975" b="0">
                <a:solidFill>
                  <a:srgbClr val="047857"/>
                </a:solidFill>
                <a:latin typeface="Kanit"/>
                <a:ea typeface="Kanit"/>
                <a:cs typeface="Kanit"/>
              </a:rPr>
              <a:t>โฟกัสหลักคือ Inventory: ซื้อดีไม่มีของเกิน และถ้าเกินต้องมองเห็น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179194-48C0-43E4-9232-32F59A09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4A3B8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94A3B8"/>
                </a:solidFill>
                <a:latin typeface="Kanit"/>
                <a:ea typeface="Kanit"/>
                <a:cs typeface="Kanit"/>
              </a:rPr>
              <a:t>PEA AI Inventory Prototype · Pitch Deck · 11</a:t>
            </a:r>
          </a:p>
        </p:txBody>
      </p:sp>
    </p:spTree>
    <p:extLst>
      <p:ext uri="{BB962C8B-B14F-4D97-AF65-F5344CB8AC3E}">
        <p14:creationId xmlns:p14="http://schemas.microsoft.com/office/powerpoint/2010/main" val="14941035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70805F-B3D7-4400-B305-168E8433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0B09AF-1C45-488B-AF76-E7935C82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-1143000"/>
            <a:ext cx="64770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1E7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016509-8BF1-4A1F-B0DA-88A52ECE1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715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7316">
              <a:alpha val="2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57047-9014-4713-AA49-294BFC40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143500"/>
            <a:ext cx="6477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B8F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C814B-098E-47FA-BAA6-C0544C74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1125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THE CLOSING THESIS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D890B1-1A46-4C9F-BA5C-85C8A6A9F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7429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3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From Procurement Workflow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390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to Inventory Intelligence.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698993-ECB2-48BB-A77F-2C6275C36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BEAFE"/>
                </a:solidFill>
                <a:latin typeface="Kanit"/>
                <a:ea typeface="Kanit"/>
                <a:cs typeface="Kanit"/>
              </a:defRPr>
            </a:pPr>
            <a:r>
              <a:rPr sz="1650" b="0">
                <a:solidFill>
                  <a:srgbClr val="DBEAFE"/>
                </a:solidFill>
                <a:latin typeface="Kanit"/>
                <a:ea typeface="Kanit"/>
                <a:cs typeface="Kanit"/>
              </a:rPr>
              <a:t>จากระบบขอซื้อ ไปสู่ระบบรู้ว่าอะไรขาด อะไรเกิน ใครควรโอน และทำไมถึงต้องซื้อ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2E9BE3-FD39-4579-893A-76E08162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4E4CA6-A47E-4526-953E-F1F0D608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100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6B1A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FF6B1A"/>
                </a:solidFill>
                <a:latin typeface="Kanit"/>
                <a:ea typeface="Kanit"/>
                <a:cs typeface="Kanit"/>
              </a:rPr>
              <a:t>Buy right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5373C8-1CE6-4D02-8948-1785591A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CBD5E1"/>
                </a:solidFill>
                <a:latin typeface="Kanit"/>
                <a:ea typeface="Kanit"/>
                <a:cs typeface="Kanit"/>
              </a:rPr>
              <a:t>ซื้อให้พอดีตั้งแต่ต้น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10561-B30F-4F95-96FB-D1613077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005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A8A69-1391-4AA6-A27E-25B939DD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2100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3C18A"/>
                </a:solidFill>
                <a:latin typeface="Kanit"/>
                <a:ea typeface="Kanit"/>
                <a:cs typeface="Kanit"/>
              </a:defRPr>
            </a:pPr>
            <a:r>
              <a:rPr sz="2100" b="1">
                <a:solidFill>
                  <a:srgbClr val="23C18A"/>
                </a:solidFill>
                <a:latin typeface="Kanit"/>
                <a:ea typeface="Kanit"/>
                <a:cs typeface="Kanit"/>
              </a:rPr>
              <a:t>Reuse excess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87CFCD-D16D-4189-A1FE-86CA31DB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4572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CBD5E1"/>
                </a:solidFill>
                <a:latin typeface="Kanit"/>
                <a:ea typeface="Kanit"/>
                <a:cs typeface="Kanit"/>
              </a:rPr>
              <a:t>ของเกินต้องถูกมองเห็นและโอนใช้ได้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D58EC-5FD5-4DCB-B31D-B5F2D087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00500"/>
            <a:ext cx="304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081A65-3B72-4174-BDE6-00898BB56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10050"/>
            <a:ext cx="2571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93C5FD"/>
                </a:solidFill>
                <a:latin typeface="Kanit"/>
                <a:ea typeface="Kanit"/>
                <a:cs typeface="Kanit"/>
              </a:defRPr>
            </a:pPr>
            <a:r>
              <a:rPr sz="1800" b="1">
                <a:solidFill>
                  <a:srgbClr val="93C5FD"/>
                </a:solidFill>
                <a:latin typeface="Kanit"/>
                <a:ea typeface="Kanit"/>
                <a:cs typeface="Kanit"/>
              </a:rPr>
              <a:t>Explain every exception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7BDE28-D6E9-4DD0-A22F-E4AC6637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7200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BD5E1"/>
                </a:solidFill>
                <a:latin typeface="Kanit"/>
                <a:ea typeface="Kanit"/>
                <a:cs typeface="Kanit"/>
              </a:defRPr>
            </a:pPr>
            <a:r>
              <a:rPr sz="1200" b="0">
                <a:solidFill>
                  <a:srgbClr val="CBD5E1"/>
                </a:solidFill>
                <a:latin typeface="Kanit"/>
                <a:ea typeface="Kanit"/>
                <a:cs typeface="Kanit"/>
              </a:rPr>
              <a:t>ทุกการสั่งเกินต้องมีเหตุผลและ audit ได้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10352-5610-4F96-9A31-0F96E8E5E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0070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Kanit"/>
                <a:ea typeface="Kanit"/>
                <a:cs typeface="Kanit"/>
              </a:defRPr>
            </a:pPr>
            <a:r>
              <a:rPr sz="1950" b="1">
                <a:solidFill>
                  <a:srgbClr val="FFFFFF"/>
                </a:solidFill>
                <a:latin typeface="Kanit"/>
                <a:ea typeface="Kanit"/>
                <a:cs typeface="Kanit"/>
              </a:rPr>
              <a:t>AI asks first: do we really need to buy?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2F657C-44DB-438C-A4DC-07AAF359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19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D5E1"/>
                </a:solidFill>
                <a:latin typeface="Kanit"/>
                <a:ea typeface="Kanit"/>
                <a:cs typeface="Kanit"/>
              </a:defRPr>
            </a:pPr>
            <a:r>
              <a:rPr sz="1275" b="0">
                <a:solidFill>
                  <a:srgbClr val="CBD5E1"/>
                </a:solidFill>
                <a:latin typeface="Kanit"/>
                <a:ea typeface="Kanit"/>
                <a:cs typeface="Kanit"/>
              </a:rPr>
              <a:t>AI ที่ช่วยประหยัดงบด้วยคำถามยากที่สุด: จำเป็นต้องซื้อจริงไหม?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663051-E5E0-4467-B18B-37E0155C1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CBD5E1"/>
                </a:solidFill>
                <a:latin typeface="Kanit"/>
                <a:ea typeface="Kanit"/>
                <a:cs typeface="Kanit"/>
              </a:defRPr>
            </a:pPr>
            <a:r>
              <a:rPr sz="750" b="0">
                <a:solidFill>
                  <a:srgbClr val="CBD5E1"/>
                </a:solidFill>
                <a:latin typeface="Kanit"/>
                <a:ea typeface="Kanit"/>
                <a:cs typeface="Kanit"/>
              </a:rPr>
              <a:t>PEA AI Inventory Prototype · Pitch Deck · 12</a:t>
            </a:r>
          </a:p>
        </p:txBody>
      </p:sp>
    </p:spTree>
    <p:extLst>
      <p:ext uri="{BB962C8B-B14F-4D97-AF65-F5344CB8AC3E}">
        <p14:creationId xmlns:p14="http://schemas.microsoft.com/office/powerpoint/2010/main" val="126013820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2026-06-14T06:48:01.6700000Z</dcterms:created>
  <dcterms:modified xsi:type="dcterms:W3CDTF">2026-06-14T06:48:01.6700000Z</dcterms:modified>
</coreProperties>
</file>